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7"/>
  </p:notesMasterIdLst>
  <p:handoutMasterIdLst>
    <p:handoutMasterId r:id="rId8"/>
  </p:handoutMasterIdLst>
  <p:sldIdLst>
    <p:sldId id="307" r:id="rId5"/>
    <p:sldId id="309" r:id="rId6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/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307"/>
            <p14:sldId id="309"/>
          </p14:sldIdLst>
        </p14:section>
        <p14:section name="结束页" id="{3F9D54A7-3BE2-2540-BB4C-DFE5509085F3}">
          <p14:sldIdLst/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21815"/>
    <a:srgbClr val="CCCC00"/>
    <a:srgbClr val="E9E9E7"/>
    <a:srgbClr val="000000"/>
    <a:srgbClr val="E9002F"/>
    <a:srgbClr val="595757"/>
    <a:srgbClr val="888888"/>
    <a:srgbClr val="898989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747" autoAdjust="0"/>
    <p:restoredTop sz="96291"/>
  </p:normalViewPr>
  <p:slideViewPr>
    <p:cSldViewPr snapToGrid="0" snapToObjects="1">
      <p:cViewPr varScale="1">
        <p:scale>
          <a:sx n="70" d="100"/>
          <a:sy n="70" d="100"/>
        </p:scale>
        <p:origin x="844" y="56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10/22/2019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=""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=""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=""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=""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89" name="矩形 13">
              <a:extLst>
                <a:ext uri="{FF2B5EF4-FFF2-40B4-BE49-F238E27FC236}">
                  <a16:creationId xmlns=""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=""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=""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=""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=""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=""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=""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=""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=""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=""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=""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=""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=""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=""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=""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=""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=""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=""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=""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=""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=""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=""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=""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=""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=""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=""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=""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=""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=""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=""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=""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=""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=""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=""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=""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=""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=""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=""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=""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=""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"/>
          <p:cNvSpPr/>
          <p:nvPr/>
        </p:nvSpPr>
        <p:spPr>
          <a:xfrm>
            <a:off x="5096935" y="1796488"/>
            <a:ext cx="5771589" cy="2519643"/>
          </a:xfrm>
          <a:custGeom>
            <a:avLst/>
            <a:gdLst>
              <a:gd name="connsiteX0" fmla="*/ 0 w 4649125"/>
              <a:gd name="connsiteY0" fmla="*/ 263198 h 518803"/>
              <a:gd name="connsiteX1" fmla="*/ 2324563 w 4649125"/>
              <a:gd name="connsiteY1" fmla="*/ 0 h 518803"/>
              <a:gd name="connsiteX2" fmla="*/ 4649125 w 4649125"/>
              <a:gd name="connsiteY2" fmla="*/ 263198 h 518803"/>
              <a:gd name="connsiteX3" fmla="*/ 2324563 w 4649125"/>
              <a:gd name="connsiteY3" fmla="*/ 518170 h 5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9125" h="518803">
                <a:moveTo>
                  <a:pt x="0" y="0"/>
                </a:moveTo>
                <a:lnTo>
                  <a:pt x="4649125" y="0"/>
                </a:lnTo>
                <a:lnTo>
                  <a:pt x="4649125" y="518803"/>
                </a:lnTo>
                <a:lnTo>
                  <a:pt x="0" y="51880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7600" cap="flat">
            <a:solidFill>
              <a:srgbClr val="6D6D6D"/>
            </a:solidFill>
            <a:bevel/>
          </a:ln>
          <a:effectLst>
            <a:outerShdw dist="21496" dir="2700000" algn="tl" rotWithShape="0">
              <a:srgbClr val="000000">
                <a:alpha val="8000"/>
              </a:srgbClr>
            </a:outerShdw>
          </a:effectLst>
        </p:spPr>
        <p:txBody>
          <a:bodyPr wrap="square" lIns="50799" tIns="50799" rIns="50799" bIns="50799" rtlCol="0" anchor="ctr"/>
          <a:lstStyle/>
          <a:p>
            <a:pPr defTabSz="121875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1" kern="0" dirty="0">
                <a:solidFill>
                  <a:srgbClr val="303030"/>
                </a:solidFill>
                <a:latin typeface="微软雅黑"/>
                <a:ea typeface="微软雅黑"/>
              </a:rPr>
              <a:t>  </a:t>
            </a:r>
            <a:endParaRPr sz="1100" b="1" kern="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"/>
          <p:cNvSpPr/>
          <p:nvPr/>
        </p:nvSpPr>
        <p:spPr>
          <a:xfrm>
            <a:off x="6335014" y="3758109"/>
            <a:ext cx="4363721" cy="394654"/>
          </a:xfrm>
          <a:custGeom>
            <a:avLst/>
            <a:gdLst>
              <a:gd name="connsiteX0" fmla="*/ 0 w 4649125"/>
              <a:gd name="connsiteY0" fmla="*/ 263198 h 518803"/>
              <a:gd name="connsiteX1" fmla="*/ 2324563 w 4649125"/>
              <a:gd name="connsiteY1" fmla="*/ 0 h 518803"/>
              <a:gd name="connsiteX2" fmla="*/ 4649125 w 4649125"/>
              <a:gd name="connsiteY2" fmla="*/ 263198 h 518803"/>
              <a:gd name="connsiteX3" fmla="*/ 2324563 w 4649125"/>
              <a:gd name="connsiteY3" fmla="*/ 518170 h 5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9125" h="518803">
                <a:moveTo>
                  <a:pt x="0" y="0"/>
                </a:moveTo>
                <a:lnTo>
                  <a:pt x="4649125" y="0"/>
                </a:lnTo>
                <a:lnTo>
                  <a:pt x="4649125" y="518803"/>
                </a:lnTo>
                <a:lnTo>
                  <a:pt x="0" y="518803"/>
                </a:lnTo>
                <a:lnTo>
                  <a:pt x="0" y="0"/>
                </a:lnTo>
                <a:close/>
              </a:path>
            </a:pathLst>
          </a:custGeom>
          <a:solidFill>
            <a:srgbClr val="E9E9E7"/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en-US" sz="1100" kern="0" dirty="0">
                <a:solidFill>
                  <a:prstClr val="black"/>
                </a:solidFill>
                <a:latin typeface="微软雅黑"/>
                <a:ea typeface="微软雅黑"/>
              </a:rPr>
              <a:t>  </a:t>
            </a:r>
            <a:endParaRPr sz="1100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26" name="Rectangle"/>
          <p:cNvSpPr/>
          <p:nvPr/>
        </p:nvSpPr>
        <p:spPr>
          <a:xfrm>
            <a:off x="6335014" y="1982354"/>
            <a:ext cx="960083" cy="1070660"/>
          </a:xfrm>
          <a:custGeom>
            <a:avLst/>
            <a:gdLst>
              <a:gd name="connsiteX0" fmla="*/ 0 w 4649125"/>
              <a:gd name="connsiteY0" fmla="*/ 263198 h 518803"/>
              <a:gd name="connsiteX1" fmla="*/ 2324563 w 4649125"/>
              <a:gd name="connsiteY1" fmla="*/ 0 h 518803"/>
              <a:gd name="connsiteX2" fmla="*/ 4649125 w 4649125"/>
              <a:gd name="connsiteY2" fmla="*/ 263198 h 518803"/>
              <a:gd name="connsiteX3" fmla="*/ 2324563 w 4649125"/>
              <a:gd name="connsiteY3" fmla="*/ 518170 h 5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9125" h="518803">
                <a:moveTo>
                  <a:pt x="0" y="0"/>
                </a:moveTo>
                <a:lnTo>
                  <a:pt x="4649125" y="0"/>
                </a:lnTo>
                <a:lnTo>
                  <a:pt x="4649125" y="518803"/>
                </a:lnTo>
                <a:lnTo>
                  <a:pt x="0" y="518803"/>
                </a:lnTo>
                <a:lnTo>
                  <a:pt x="0" y="0"/>
                </a:lnTo>
                <a:close/>
              </a:path>
            </a:pathLst>
          </a:custGeom>
          <a:solidFill>
            <a:srgbClr val="E9E9E7"/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4400">
              <a:spcAft>
                <a:spcPts val="600"/>
              </a:spcAft>
            </a:pP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内存数据库</a:t>
            </a:r>
            <a:endParaRPr lang="en-US" altLang="zh-CN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>
              <a:spcAft>
                <a:spcPts val="600"/>
              </a:spcAft>
            </a:pPr>
            <a:r>
              <a:rPr lang="en-US" altLang="zh-CN" sz="9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Redis</a:t>
            </a:r>
            <a:r>
              <a:rPr lang="zh-CN" altLang="en-US" sz="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231993" y="3813798"/>
            <a:ext cx="1845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消息队列 </a:t>
            </a:r>
            <a:r>
              <a:rPr lang="en-US" altLang="zh-CN" sz="9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Kafka</a:t>
            </a:r>
            <a:r>
              <a:rPr lang="zh-CN" altLang="en-US" sz="9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endParaRPr lang="zh-CN" altLang="en-US" sz="9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"/>
          <p:cNvSpPr/>
          <p:nvPr/>
        </p:nvSpPr>
        <p:spPr>
          <a:xfrm>
            <a:off x="6335014" y="3244938"/>
            <a:ext cx="4363721" cy="394654"/>
          </a:xfrm>
          <a:custGeom>
            <a:avLst/>
            <a:gdLst>
              <a:gd name="connsiteX0" fmla="*/ 0 w 4649125"/>
              <a:gd name="connsiteY0" fmla="*/ 263198 h 518803"/>
              <a:gd name="connsiteX1" fmla="*/ 2324563 w 4649125"/>
              <a:gd name="connsiteY1" fmla="*/ 0 h 518803"/>
              <a:gd name="connsiteX2" fmla="*/ 4649125 w 4649125"/>
              <a:gd name="connsiteY2" fmla="*/ 263198 h 518803"/>
              <a:gd name="connsiteX3" fmla="*/ 2324563 w 4649125"/>
              <a:gd name="connsiteY3" fmla="*/ 518170 h 5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9125" h="518803">
                <a:moveTo>
                  <a:pt x="0" y="0"/>
                </a:moveTo>
                <a:lnTo>
                  <a:pt x="4649125" y="0"/>
                </a:lnTo>
                <a:lnTo>
                  <a:pt x="4649125" y="518803"/>
                </a:lnTo>
                <a:lnTo>
                  <a:pt x="0" y="518803"/>
                </a:lnTo>
                <a:lnTo>
                  <a:pt x="0" y="0"/>
                </a:lnTo>
                <a:close/>
              </a:path>
            </a:pathLst>
          </a:custGeom>
          <a:solidFill>
            <a:srgbClr val="E9E9E7"/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en-US" sz="1100" kern="0" dirty="0">
                <a:solidFill>
                  <a:prstClr val="black"/>
                </a:solidFill>
                <a:latin typeface="微软雅黑"/>
                <a:ea typeface="微软雅黑"/>
              </a:rPr>
              <a:t>  </a:t>
            </a:r>
            <a:endParaRPr sz="1100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257395" y="3316503"/>
            <a:ext cx="17339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  </a:t>
            </a:r>
            <a:r>
              <a:rPr lang="en-US" altLang="zh-CN" sz="9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Flink</a:t>
            </a:r>
            <a:r>
              <a:rPr lang="zh-CN" altLang="en-US" sz="9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r>
              <a:rPr lang="en-US" altLang="zh-CN" sz="9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9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Rectangle"/>
          <p:cNvSpPr/>
          <p:nvPr/>
        </p:nvSpPr>
        <p:spPr>
          <a:xfrm>
            <a:off x="7460081" y="1982354"/>
            <a:ext cx="976377" cy="1059701"/>
          </a:xfrm>
          <a:custGeom>
            <a:avLst/>
            <a:gdLst>
              <a:gd name="connsiteX0" fmla="*/ 0 w 4649125"/>
              <a:gd name="connsiteY0" fmla="*/ 263198 h 518803"/>
              <a:gd name="connsiteX1" fmla="*/ 2324563 w 4649125"/>
              <a:gd name="connsiteY1" fmla="*/ 0 h 518803"/>
              <a:gd name="connsiteX2" fmla="*/ 4649125 w 4649125"/>
              <a:gd name="connsiteY2" fmla="*/ 263198 h 518803"/>
              <a:gd name="connsiteX3" fmla="*/ 2324563 w 4649125"/>
              <a:gd name="connsiteY3" fmla="*/ 518170 h 5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9125" h="518803">
                <a:moveTo>
                  <a:pt x="0" y="0"/>
                </a:moveTo>
                <a:lnTo>
                  <a:pt x="4649125" y="0"/>
                </a:lnTo>
                <a:lnTo>
                  <a:pt x="4649125" y="518803"/>
                </a:lnTo>
                <a:lnTo>
                  <a:pt x="0" y="518803"/>
                </a:lnTo>
                <a:lnTo>
                  <a:pt x="0" y="0"/>
                </a:lnTo>
                <a:close/>
              </a:path>
            </a:pathLst>
          </a:custGeom>
          <a:solidFill>
            <a:srgbClr val="E9E9E7"/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4400"/>
            <a:r>
              <a:rPr lang="zh-CN" altLang="en-US" sz="11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列式数据库</a:t>
            </a:r>
          </a:p>
          <a:p>
            <a:pPr algn="ctr" defTabSz="914400">
              <a:spcBef>
                <a:spcPts val="600"/>
              </a:spcBef>
            </a:pPr>
            <a:r>
              <a:rPr lang="en-US" altLang="zh-CN" sz="9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Hbase</a:t>
            </a:r>
            <a:r>
              <a:rPr lang="zh-CN" altLang="en-US" sz="9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endParaRPr lang="zh-CN" altLang="en-US" sz="9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ectangle"/>
          <p:cNvSpPr/>
          <p:nvPr/>
        </p:nvSpPr>
        <p:spPr>
          <a:xfrm>
            <a:off x="8508076" y="1982353"/>
            <a:ext cx="1090854" cy="1059905"/>
          </a:xfrm>
          <a:custGeom>
            <a:avLst/>
            <a:gdLst>
              <a:gd name="connsiteX0" fmla="*/ 0 w 4649125"/>
              <a:gd name="connsiteY0" fmla="*/ 263198 h 518803"/>
              <a:gd name="connsiteX1" fmla="*/ 2324563 w 4649125"/>
              <a:gd name="connsiteY1" fmla="*/ 0 h 518803"/>
              <a:gd name="connsiteX2" fmla="*/ 4649125 w 4649125"/>
              <a:gd name="connsiteY2" fmla="*/ 263198 h 518803"/>
              <a:gd name="connsiteX3" fmla="*/ 2324563 w 4649125"/>
              <a:gd name="connsiteY3" fmla="*/ 518170 h 5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9125" h="518803">
                <a:moveTo>
                  <a:pt x="0" y="0"/>
                </a:moveTo>
                <a:lnTo>
                  <a:pt x="4649125" y="0"/>
                </a:lnTo>
                <a:lnTo>
                  <a:pt x="4649125" y="518803"/>
                </a:lnTo>
                <a:lnTo>
                  <a:pt x="0" y="518803"/>
                </a:lnTo>
                <a:lnTo>
                  <a:pt x="0" y="0"/>
                </a:lnTo>
                <a:close/>
              </a:path>
            </a:pathLst>
          </a:custGeom>
          <a:solidFill>
            <a:srgbClr val="E9E9E7"/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4400">
              <a:spcAft>
                <a:spcPts val="60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</a:p>
          <a:p>
            <a:pPr algn="ctr" defTabSz="914400">
              <a:spcAft>
                <a:spcPts val="600"/>
              </a:spcAft>
            </a:pPr>
            <a:r>
              <a:rPr lang="en-US" altLang="zh-CN" sz="9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MapReduce</a:t>
            </a:r>
            <a:r>
              <a:rPr lang="zh-CN" altLang="en-US" sz="9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  <a:endParaRPr lang="zh-CN" altLang="en-US" sz="9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 flipV="1">
            <a:off x="8436458" y="3648428"/>
            <a:ext cx="0" cy="113975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V="1">
            <a:off x="6815055" y="3052192"/>
            <a:ext cx="0" cy="183446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8044574" y="3623051"/>
            <a:ext cx="1077022" cy="52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40"/>
              </a:lnSpc>
            </a:pPr>
            <a:r>
              <a:rPr lang="en-US" altLang="zh-CN" sz="9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zh-CN" altLang="en-US" sz="9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</a:t>
            </a:r>
            <a:r>
              <a:rPr lang="en-US" altLang="zh-CN" sz="9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Topic</a:t>
            </a:r>
            <a:endParaRPr lang="zh-CN" altLang="en-US" sz="9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9587207" y="3635956"/>
            <a:ext cx="2123746" cy="52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40"/>
              </a:lnSpc>
            </a:pPr>
            <a:r>
              <a:rPr lang="zh-CN" altLang="en-US" sz="9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量测数据</a:t>
            </a:r>
            <a:r>
              <a:rPr lang="en-US" altLang="zh-CN" sz="9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Topic</a:t>
            </a:r>
            <a:endParaRPr lang="zh-CN" altLang="en-US" sz="900" dirty="0">
              <a:solidFill>
                <a:srgbClr val="1D1D1A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64" name="直接箭头连接符 63"/>
          <p:cNvCxnSpPr/>
          <p:nvPr/>
        </p:nvCxnSpPr>
        <p:spPr>
          <a:xfrm>
            <a:off x="7008915" y="3075332"/>
            <a:ext cx="0" cy="180000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4" name="Rectangle"/>
          <p:cNvSpPr/>
          <p:nvPr/>
        </p:nvSpPr>
        <p:spPr>
          <a:xfrm>
            <a:off x="713501" y="3737814"/>
            <a:ext cx="4236645" cy="568124"/>
          </a:xfrm>
          <a:custGeom>
            <a:avLst/>
            <a:gdLst>
              <a:gd name="connsiteX0" fmla="*/ 0 w 4649125"/>
              <a:gd name="connsiteY0" fmla="*/ 263198 h 518803"/>
              <a:gd name="connsiteX1" fmla="*/ 2324563 w 4649125"/>
              <a:gd name="connsiteY1" fmla="*/ 0 h 518803"/>
              <a:gd name="connsiteX2" fmla="*/ 4649125 w 4649125"/>
              <a:gd name="connsiteY2" fmla="*/ 263198 h 518803"/>
              <a:gd name="connsiteX3" fmla="*/ 2324563 w 4649125"/>
              <a:gd name="connsiteY3" fmla="*/ 518170 h 5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9125" h="518803">
                <a:moveTo>
                  <a:pt x="0" y="0"/>
                </a:moveTo>
                <a:lnTo>
                  <a:pt x="4649125" y="0"/>
                </a:lnTo>
                <a:lnTo>
                  <a:pt x="4649125" y="518803"/>
                </a:lnTo>
                <a:lnTo>
                  <a:pt x="0" y="51880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en-US" sz="1100" kern="0" dirty="0">
                <a:solidFill>
                  <a:prstClr val="black"/>
                </a:solidFill>
                <a:latin typeface="微软雅黑"/>
                <a:ea typeface="微软雅黑"/>
              </a:rPr>
              <a:t>  </a:t>
            </a:r>
            <a:endParaRPr sz="1100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cxnSp>
        <p:nvCxnSpPr>
          <p:cNvPr id="76" name="直接连接符 75"/>
          <p:cNvCxnSpPr/>
          <p:nvPr/>
        </p:nvCxnSpPr>
        <p:spPr>
          <a:xfrm>
            <a:off x="683301" y="1730566"/>
            <a:ext cx="10849716" cy="0"/>
          </a:xfrm>
          <a:prstGeom prst="line">
            <a:avLst/>
          </a:prstGeom>
          <a:noFill/>
          <a:ln w="6350" cap="flat" cmpd="sng" algn="ctr">
            <a:solidFill>
              <a:srgbClr val="C7000A"/>
            </a:solidFill>
            <a:prstDash val="dash"/>
            <a:miter lim="800000"/>
          </a:ln>
          <a:effectLst/>
        </p:spPr>
      </p:cxnSp>
      <p:sp>
        <p:nvSpPr>
          <p:cNvPr id="7" name="文本框 6"/>
          <p:cNvSpPr txBox="1"/>
          <p:nvPr/>
        </p:nvSpPr>
        <p:spPr>
          <a:xfrm>
            <a:off x="52429" y="5070698"/>
            <a:ext cx="40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数据源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57911" y="4374994"/>
            <a:ext cx="390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接入层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85064" y="2463306"/>
            <a:ext cx="3553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数据存储与分析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38149" y="1199256"/>
            <a:ext cx="4438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数据使能</a:t>
            </a:r>
          </a:p>
        </p:txBody>
      </p:sp>
      <p:sp>
        <p:nvSpPr>
          <p:cNvPr id="5" name="Rectangle"/>
          <p:cNvSpPr/>
          <p:nvPr/>
        </p:nvSpPr>
        <p:spPr>
          <a:xfrm>
            <a:off x="728529" y="1808022"/>
            <a:ext cx="4221617" cy="1793244"/>
          </a:xfrm>
          <a:custGeom>
            <a:avLst/>
            <a:gdLst>
              <a:gd name="connsiteX0" fmla="*/ 0 w 4649125"/>
              <a:gd name="connsiteY0" fmla="*/ 263198 h 518803"/>
              <a:gd name="connsiteX1" fmla="*/ 2324563 w 4649125"/>
              <a:gd name="connsiteY1" fmla="*/ 0 h 518803"/>
              <a:gd name="connsiteX2" fmla="*/ 4649125 w 4649125"/>
              <a:gd name="connsiteY2" fmla="*/ 263198 h 518803"/>
              <a:gd name="connsiteX3" fmla="*/ 2324563 w 4649125"/>
              <a:gd name="connsiteY3" fmla="*/ 518170 h 5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9125" h="518803">
                <a:moveTo>
                  <a:pt x="0" y="0"/>
                </a:moveTo>
                <a:lnTo>
                  <a:pt x="4649125" y="0"/>
                </a:lnTo>
                <a:lnTo>
                  <a:pt x="4649125" y="518803"/>
                </a:lnTo>
                <a:lnTo>
                  <a:pt x="0" y="51880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en-US" sz="1100" kern="0" dirty="0">
                <a:solidFill>
                  <a:prstClr val="black"/>
                </a:solidFill>
                <a:latin typeface="微软雅黑"/>
                <a:ea typeface="微软雅黑"/>
              </a:rPr>
              <a:t>  </a:t>
            </a:r>
            <a:endParaRPr sz="1100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grpSp>
        <p:nvGrpSpPr>
          <p:cNvPr id="115" name="组合 114"/>
          <p:cNvGrpSpPr/>
          <p:nvPr/>
        </p:nvGrpSpPr>
        <p:grpSpPr>
          <a:xfrm>
            <a:off x="740865" y="5115875"/>
            <a:ext cx="10849716" cy="568124"/>
            <a:chOff x="740865" y="5560309"/>
            <a:chExt cx="10849716" cy="568124"/>
          </a:xfrm>
        </p:grpSpPr>
        <p:sp>
          <p:nvSpPr>
            <p:cNvPr id="8" name="Rectangle"/>
            <p:cNvSpPr/>
            <p:nvPr/>
          </p:nvSpPr>
          <p:spPr>
            <a:xfrm>
              <a:off x="740865" y="5560309"/>
              <a:ext cx="4921107" cy="568124"/>
            </a:xfrm>
            <a:custGeom>
              <a:avLst/>
              <a:gdLst>
                <a:gd name="connsiteX0" fmla="*/ 0 w 4649125"/>
                <a:gd name="connsiteY0" fmla="*/ 263198 h 518803"/>
                <a:gd name="connsiteX1" fmla="*/ 2324563 w 4649125"/>
                <a:gd name="connsiteY1" fmla="*/ 0 h 518803"/>
                <a:gd name="connsiteX2" fmla="*/ 4649125 w 4649125"/>
                <a:gd name="connsiteY2" fmla="*/ 263198 h 518803"/>
                <a:gd name="connsiteX3" fmla="*/ 2324563 w 4649125"/>
                <a:gd name="connsiteY3" fmla="*/ 518170 h 51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49125" h="518803">
                  <a:moveTo>
                    <a:pt x="0" y="0"/>
                  </a:moveTo>
                  <a:lnTo>
                    <a:pt x="4649125" y="0"/>
                  </a:lnTo>
                  <a:lnTo>
                    <a:pt x="4649125" y="518803"/>
                  </a:lnTo>
                  <a:lnTo>
                    <a:pt x="0" y="518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20000"/>
                <a:lumOff val="80000"/>
              </a:schemeClr>
            </a:solidFill>
            <a:ln w="7600" cap="flat">
              <a:solidFill>
                <a:srgbClr val="6D6D6D"/>
              </a:solidFill>
              <a:bevel/>
            </a:ln>
            <a:effectLst>
              <a:outerShdw dist="21496" dir="2700000" algn="tl" rotWithShape="0">
                <a:srgbClr val="000000">
                  <a:alpha val="8000"/>
                </a:srgbClr>
              </a:outerShdw>
            </a:effectLst>
          </p:spPr>
          <p:txBody>
            <a:bodyPr wrap="square" lIns="50799" tIns="50799" rIns="50799" bIns="50799" rtlCol="0" anchor="ctr"/>
            <a:lstStyle/>
            <a:p>
              <a:pPr defTabSz="1218756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00" b="1" kern="0" dirty="0">
                  <a:solidFill>
                    <a:srgbClr val="303030"/>
                  </a:solidFill>
                  <a:latin typeface="微软雅黑"/>
                  <a:ea typeface="微软雅黑"/>
                </a:rPr>
                <a:t>  </a:t>
              </a:r>
              <a:endParaRPr sz="1100" b="1" kern="0" dirty="0">
                <a:solidFill>
                  <a:srgbClr val="FF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9" name="圆角矩形 8"/>
            <p:cNvSpPr/>
            <p:nvPr/>
          </p:nvSpPr>
          <p:spPr bwMode="auto">
            <a:xfrm>
              <a:off x="1620225" y="5630524"/>
              <a:ext cx="1673735" cy="19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rgbClr val="4F81BD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defTabSz="913859"/>
              <a:r>
                <a:rPr lang="en-US" altLang="zh-CN" sz="1100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ERP</a:t>
              </a: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62300" y="5706697"/>
              <a:ext cx="74985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/>
              <a:r>
                <a:rPr lang="zh-CN" altLang="en-US" sz="1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结构化</a:t>
              </a:r>
              <a:endPara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圆角矩形 10"/>
            <p:cNvSpPr/>
            <p:nvPr/>
          </p:nvSpPr>
          <p:spPr bwMode="auto">
            <a:xfrm>
              <a:off x="1620225" y="5879478"/>
              <a:ext cx="1673735" cy="19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rgbClr val="4F81BD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defTabSz="913859"/>
              <a:r>
                <a:rPr lang="zh-CN" altLang="en-US" sz="1100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营销系统</a:t>
              </a:r>
              <a:endParaRPr lang="en-US" altLang="zh-CN" sz="1100" kern="0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" name="圆角矩形 11"/>
            <p:cNvSpPr/>
            <p:nvPr/>
          </p:nvSpPr>
          <p:spPr bwMode="auto">
            <a:xfrm>
              <a:off x="3645276" y="5879478"/>
              <a:ext cx="1673735" cy="19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rgbClr val="4F81BD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defTabSz="913859"/>
              <a:r>
                <a:rPr lang="zh-CN" altLang="en-US" sz="1100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财务系统</a:t>
              </a:r>
              <a:endParaRPr lang="en-US" altLang="zh-CN" sz="1100" kern="0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3" name="圆角矩形 12"/>
            <p:cNvSpPr/>
            <p:nvPr/>
          </p:nvSpPr>
          <p:spPr bwMode="auto">
            <a:xfrm>
              <a:off x="3645276" y="5629584"/>
              <a:ext cx="1673735" cy="19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rgbClr val="4F81BD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defTabSz="913859"/>
              <a:r>
                <a:rPr lang="en-US" altLang="zh-CN" sz="1100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PMS</a:t>
              </a:r>
            </a:p>
          </p:txBody>
        </p:sp>
        <p:sp>
          <p:nvSpPr>
            <p:cNvPr id="14" name="Rectangle"/>
            <p:cNvSpPr/>
            <p:nvPr/>
          </p:nvSpPr>
          <p:spPr>
            <a:xfrm>
              <a:off x="5742858" y="5560309"/>
              <a:ext cx="3056623" cy="568124"/>
            </a:xfrm>
            <a:custGeom>
              <a:avLst/>
              <a:gdLst>
                <a:gd name="connsiteX0" fmla="*/ 0 w 4649125"/>
                <a:gd name="connsiteY0" fmla="*/ 263198 h 518803"/>
                <a:gd name="connsiteX1" fmla="*/ 2324563 w 4649125"/>
                <a:gd name="connsiteY1" fmla="*/ 0 h 518803"/>
                <a:gd name="connsiteX2" fmla="*/ 4649125 w 4649125"/>
                <a:gd name="connsiteY2" fmla="*/ 263198 h 518803"/>
                <a:gd name="connsiteX3" fmla="*/ 2324563 w 4649125"/>
                <a:gd name="connsiteY3" fmla="*/ 518170 h 51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49125" h="518803">
                  <a:moveTo>
                    <a:pt x="0" y="0"/>
                  </a:moveTo>
                  <a:lnTo>
                    <a:pt x="4649125" y="0"/>
                  </a:lnTo>
                  <a:lnTo>
                    <a:pt x="4649125" y="518803"/>
                  </a:lnTo>
                  <a:lnTo>
                    <a:pt x="0" y="518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20000"/>
                <a:lumOff val="80000"/>
              </a:schemeClr>
            </a:solidFill>
            <a:ln w="7600" cap="flat">
              <a:solidFill>
                <a:srgbClr val="6D6D6D"/>
              </a:solidFill>
              <a:bevel/>
            </a:ln>
            <a:effectLst>
              <a:outerShdw dist="21496" dir="2700000" algn="tl" rotWithShape="0">
                <a:srgbClr val="000000">
                  <a:alpha val="8000"/>
                </a:srgbClr>
              </a:outerShdw>
            </a:effectLst>
          </p:spPr>
          <p:txBody>
            <a:bodyPr wrap="square" lIns="50799" tIns="50799" rIns="50799" bIns="50799" rtlCol="0" anchor="ctr"/>
            <a:lstStyle/>
            <a:p>
              <a:pPr defTabSz="1218756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00" b="1" kern="0" dirty="0">
                  <a:solidFill>
                    <a:srgbClr val="303030"/>
                  </a:solidFill>
                  <a:latin typeface="微软雅黑"/>
                  <a:ea typeface="微软雅黑"/>
                </a:rPr>
                <a:t>  </a:t>
              </a:r>
              <a:endParaRPr sz="1100" b="1" kern="0" dirty="0">
                <a:solidFill>
                  <a:srgbClr val="FF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689960" y="5688712"/>
              <a:ext cx="127610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/>
              <a:r>
                <a:rPr lang="zh-CN" altLang="en-US" sz="1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非结构化</a:t>
              </a:r>
              <a:endPara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圆角矩形 15"/>
            <p:cNvSpPr/>
            <p:nvPr/>
          </p:nvSpPr>
          <p:spPr bwMode="auto">
            <a:xfrm>
              <a:off x="6987880" y="5733457"/>
              <a:ext cx="1673735" cy="19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rgbClr val="4F81BD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defTabSz="913859"/>
              <a:r>
                <a:rPr lang="en-US" altLang="zh-CN" sz="1100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E </a:t>
              </a:r>
              <a:r>
                <a:rPr lang="zh-CN" altLang="en-US" sz="1100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文件</a:t>
              </a:r>
              <a:endParaRPr lang="en-US" altLang="zh-CN" sz="1100" kern="0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7" name="Rectangle"/>
            <p:cNvSpPr/>
            <p:nvPr/>
          </p:nvSpPr>
          <p:spPr>
            <a:xfrm>
              <a:off x="8859408" y="5560309"/>
              <a:ext cx="2731173" cy="568124"/>
            </a:xfrm>
            <a:custGeom>
              <a:avLst/>
              <a:gdLst>
                <a:gd name="connsiteX0" fmla="*/ 0 w 4649125"/>
                <a:gd name="connsiteY0" fmla="*/ 263198 h 518803"/>
                <a:gd name="connsiteX1" fmla="*/ 2324563 w 4649125"/>
                <a:gd name="connsiteY1" fmla="*/ 0 h 518803"/>
                <a:gd name="connsiteX2" fmla="*/ 4649125 w 4649125"/>
                <a:gd name="connsiteY2" fmla="*/ 263198 h 518803"/>
                <a:gd name="connsiteX3" fmla="*/ 2324563 w 4649125"/>
                <a:gd name="connsiteY3" fmla="*/ 518170 h 518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49125" h="518803">
                  <a:moveTo>
                    <a:pt x="0" y="0"/>
                  </a:moveTo>
                  <a:lnTo>
                    <a:pt x="4649125" y="0"/>
                  </a:lnTo>
                  <a:lnTo>
                    <a:pt x="4649125" y="518803"/>
                  </a:lnTo>
                  <a:lnTo>
                    <a:pt x="0" y="5188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20000"/>
                <a:lumOff val="80000"/>
              </a:schemeClr>
            </a:solidFill>
            <a:ln w="7600" cap="flat">
              <a:solidFill>
                <a:srgbClr val="6D6D6D"/>
              </a:solidFill>
              <a:bevel/>
            </a:ln>
            <a:effectLst>
              <a:outerShdw dist="21496" dir="2700000" algn="tl" rotWithShape="0">
                <a:srgbClr val="000000">
                  <a:alpha val="8000"/>
                </a:srgbClr>
              </a:outerShdw>
            </a:effectLst>
          </p:spPr>
          <p:txBody>
            <a:bodyPr wrap="square" lIns="50799" tIns="50799" rIns="50799" bIns="50799" rtlCol="0" anchor="ctr"/>
            <a:lstStyle/>
            <a:p>
              <a:pPr defTabSz="1218756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300" b="1" kern="0" dirty="0">
                  <a:solidFill>
                    <a:srgbClr val="303030"/>
                  </a:solidFill>
                  <a:latin typeface="微软雅黑"/>
                  <a:ea typeface="微软雅黑"/>
                </a:rPr>
                <a:t>  </a:t>
              </a:r>
              <a:endParaRPr sz="1100" b="1" kern="0" dirty="0">
                <a:solidFill>
                  <a:srgbClr val="FF0000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816955" y="5680402"/>
              <a:ext cx="10353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/>
              <a:r>
                <a:rPr lang="en-US" altLang="zh-CN" sz="1400" dirty="0" err="1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IoT</a:t>
              </a:r>
              <a:r>
                <a:rPr lang="zh-CN" altLang="en-US" sz="14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</a:t>
              </a:r>
              <a:endPara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圆角矩形 18"/>
            <p:cNvSpPr/>
            <p:nvPr/>
          </p:nvSpPr>
          <p:spPr bwMode="auto">
            <a:xfrm>
              <a:off x="9877649" y="5725631"/>
              <a:ext cx="1302049" cy="19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rgbClr val="4F81BD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defTabSz="913859"/>
              <a:r>
                <a:rPr lang="zh-CN" altLang="en-US" sz="1100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量测数据</a:t>
              </a:r>
              <a:endParaRPr lang="en-US" altLang="zh-CN" sz="1100" kern="0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</p:grpSp>
      <p:sp>
        <p:nvSpPr>
          <p:cNvPr id="20" name="圆角矩形 19"/>
          <p:cNvSpPr/>
          <p:nvPr/>
        </p:nvSpPr>
        <p:spPr bwMode="auto">
          <a:xfrm>
            <a:off x="1168602" y="4504627"/>
            <a:ext cx="1673735" cy="19209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en-US" altLang="zh-CN" sz="1050" kern="0" dirty="0">
                <a:solidFill>
                  <a:prstClr val="black"/>
                </a:solidFill>
                <a:latin typeface="微软雅黑"/>
                <a:ea typeface="微软雅黑"/>
              </a:rPr>
              <a:t>R7</a:t>
            </a:r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1802275" y="4688407"/>
            <a:ext cx="0" cy="432000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2" name="圆角矩形 21"/>
          <p:cNvSpPr/>
          <p:nvPr/>
        </p:nvSpPr>
        <p:spPr bwMode="auto">
          <a:xfrm>
            <a:off x="3193938" y="4502253"/>
            <a:ext cx="1673735" cy="19209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en-US" altLang="zh-CN" sz="1050" kern="0" dirty="0">
                <a:solidFill>
                  <a:prstClr val="black"/>
                </a:solidFill>
                <a:latin typeface="微软雅黑"/>
                <a:ea typeface="微软雅黑"/>
              </a:rPr>
              <a:t>DAYU</a:t>
            </a:r>
          </a:p>
        </p:txBody>
      </p:sp>
      <p:cxnSp>
        <p:nvCxnSpPr>
          <p:cNvPr id="23" name="直接箭头连接符 22"/>
          <p:cNvCxnSpPr>
            <a:endCxn id="22" idx="2"/>
          </p:cNvCxnSpPr>
          <p:nvPr/>
        </p:nvCxnSpPr>
        <p:spPr>
          <a:xfrm flipV="1">
            <a:off x="4030805" y="4694346"/>
            <a:ext cx="0" cy="396000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82808" y="3761227"/>
            <a:ext cx="1369965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GaussDB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</a:p>
          <a:p>
            <a:pPr algn="ctr" defTabSz="914400">
              <a:spcAft>
                <a:spcPts val="600"/>
              </a:spcAft>
            </a:pP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分布式数据库</a:t>
            </a: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2105" y="2488782"/>
            <a:ext cx="174559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altLang="zh-CN" sz="12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GaussDB</a:t>
            </a:r>
            <a:r>
              <a:rPr lang="en-US" altLang="zh-CN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200</a:t>
            </a:r>
          </a:p>
          <a:p>
            <a:pPr algn="ctr" defTabSz="914400">
              <a:spcAft>
                <a:spcPts val="600"/>
              </a:spcAft>
            </a:pP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分布式数据仓库</a:t>
            </a: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40"/>
          <p:cNvSpPr/>
          <p:nvPr/>
        </p:nvSpPr>
        <p:spPr bwMode="auto">
          <a:xfrm>
            <a:off x="1998148" y="2809941"/>
            <a:ext cx="2536755" cy="426262"/>
          </a:xfrm>
          <a:prstGeom prst="roundRect">
            <a:avLst/>
          </a:prstGeom>
          <a:solidFill>
            <a:srgbClr val="E9E9E7"/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zh-CN" altLang="en-US" sz="1100" kern="0" dirty="0">
                <a:solidFill>
                  <a:prstClr val="black"/>
                </a:solidFill>
                <a:latin typeface="微软雅黑"/>
                <a:ea typeface="微软雅黑"/>
              </a:rPr>
              <a:t>共享层</a:t>
            </a:r>
            <a:endParaRPr lang="en-US" altLang="zh-CN" sz="1100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42" name="圆角矩形 41"/>
          <p:cNvSpPr/>
          <p:nvPr/>
        </p:nvSpPr>
        <p:spPr bwMode="auto">
          <a:xfrm>
            <a:off x="1998149" y="2287111"/>
            <a:ext cx="2536755" cy="455136"/>
          </a:xfrm>
          <a:prstGeom prst="roundRect">
            <a:avLst/>
          </a:prstGeom>
          <a:solidFill>
            <a:srgbClr val="E9E9E7"/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zh-CN" altLang="en-US" sz="1100" kern="0" dirty="0">
                <a:solidFill>
                  <a:prstClr val="black"/>
                </a:solidFill>
                <a:latin typeface="微软雅黑"/>
                <a:ea typeface="微软雅黑"/>
              </a:rPr>
              <a:t>分析层</a:t>
            </a:r>
            <a:endParaRPr lang="en-US" altLang="zh-CN" sz="1100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43" name="Rectangle"/>
          <p:cNvSpPr/>
          <p:nvPr/>
        </p:nvSpPr>
        <p:spPr>
          <a:xfrm>
            <a:off x="713501" y="1233456"/>
            <a:ext cx="10849714" cy="420046"/>
          </a:xfrm>
          <a:custGeom>
            <a:avLst/>
            <a:gdLst>
              <a:gd name="connsiteX0" fmla="*/ 0 w 4649125"/>
              <a:gd name="connsiteY0" fmla="*/ 263198 h 518803"/>
              <a:gd name="connsiteX1" fmla="*/ 2324563 w 4649125"/>
              <a:gd name="connsiteY1" fmla="*/ 0 h 518803"/>
              <a:gd name="connsiteX2" fmla="*/ 4649125 w 4649125"/>
              <a:gd name="connsiteY2" fmla="*/ 263198 h 518803"/>
              <a:gd name="connsiteX3" fmla="*/ 2324563 w 4649125"/>
              <a:gd name="connsiteY3" fmla="*/ 518170 h 5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9125" h="518803">
                <a:moveTo>
                  <a:pt x="0" y="0"/>
                </a:moveTo>
                <a:lnTo>
                  <a:pt x="4649125" y="0"/>
                </a:lnTo>
                <a:lnTo>
                  <a:pt x="4649125" y="518803"/>
                </a:lnTo>
                <a:lnTo>
                  <a:pt x="0" y="51880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7600" cap="flat">
            <a:solidFill>
              <a:srgbClr val="6D6D6D"/>
            </a:solidFill>
            <a:bevel/>
          </a:ln>
          <a:effectLst>
            <a:outerShdw dist="21496" dir="2700000" algn="tl" rotWithShape="0">
              <a:srgbClr val="000000">
                <a:alpha val="8000"/>
              </a:srgbClr>
            </a:outerShdw>
          </a:effectLst>
        </p:spPr>
        <p:txBody>
          <a:bodyPr wrap="square" lIns="50799" tIns="50799" rIns="50799" bIns="50799" rtlCol="0" anchor="ctr"/>
          <a:lstStyle/>
          <a:p>
            <a:pPr defTabSz="121875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1" kern="0" dirty="0">
                <a:solidFill>
                  <a:srgbClr val="303030"/>
                </a:solidFill>
                <a:latin typeface="微软雅黑"/>
                <a:ea typeface="微软雅黑"/>
              </a:rPr>
              <a:t>  </a:t>
            </a:r>
            <a:endParaRPr sz="1100" b="1" kern="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901225" y="4633791"/>
            <a:ext cx="1081063" cy="414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40"/>
              </a:lnSpc>
            </a:pPr>
            <a:r>
              <a:rPr lang="zh-CN" altLang="en-US" sz="11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实时同步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4050623" y="4653478"/>
            <a:ext cx="1599484" cy="414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40"/>
              </a:lnSpc>
            </a:pPr>
            <a:r>
              <a:rPr lang="zh-CN" altLang="en-US" sz="11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非实时批量导入</a:t>
            </a:r>
          </a:p>
        </p:txBody>
      </p:sp>
      <p:cxnSp>
        <p:nvCxnSpPr>
          <p:cNvPr id="53" name="直接箭头连接符 52"/>
          <p:cNvCxnSpPr/>
          <p:nvPr/>
        </p:nvCxnSpPr>
        <p:spPr>
          <a:xfrm flipV="1">
            <a:off x="6790641" y="4142558"/>
            <a:ext cx="0" cy="977850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6742872" y="4637284"/>
            <a:ext cx="1081063" cy="414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40"/>
              </a:lnSpc>
            </a:pPr>
            <a:r>
              <a:rPr lang="zh-CN" altLang="en-US" sz="11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文件采集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10085300" y="4642857"/>
            <a:ext cx="1254399" cy="414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440"/>
              </a:lnSpc>
            </a:pPr>
            <a:r>
              <a:rPr lang="zh-CN" altLang="en-US" sz="1100" dirty="0">
                <a:solidFill>
                  <a:srgbClr val="1D1D1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实时流接入</a:t>
            </a:r>
          </a:p>
        </p:txBody>
      </p:sp>
      <p:cxnSp>
        <p:nvCxnSpPr>
          <p:cNvPr id="80" name="直接连接符 79"/>
          <p:cNvCxnSpPr>
            <a:endCxn id="5" idx="2"/>
          </p:cNvCxnSpPr>
          <p:nvPr/>
        </p:nvCxnSpPr>
        <p:spPr>
          <a:xfrm flipH="1" flipV="1">
            <a:off x="4950145" y="2717767"/>
            <a:ext cx="144000" cy="0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V="1">
            <a:off x="8667931" y="1671321"/>
            <a:ext cx="0" cy="118490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/>
          <p:nvPr/>
        </p:nvCxnSpPr>
        <p:spPr>
          <a:xfrm flipV="1">
            <a:off x="3571983" y="1672360"/>
            <a:ext cx="0" cy="118490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 flipV="1">
            <a:off x="2021882" y="4313632"/>
            <a:ext cx="0" cy="173030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 flipV="1">
            <a:off x="4030805" y="4316131"/>
            <a:ext cx="0" cy="173030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740866" y="4795659"/>
            <a:ext cx="10849716" cy="0"/>
          </a:xfrm>
          <a:prstGeom prst="line">
            <a:avLst/>
          </a:prstGeom>
          <a:noFill/>
          <a:ln w="6350" cap="flat" cmpd="sng" algn="ctr">
            <a:solidFill>
              <a:srgbClr val="C7000A"/>
            </a:solidFill>
            <a:prstDash val="dash"/>
            <a:miter lim="800000"/>
          </a:ln>
          <a:effectLst/>
        </p:spPr>
      </p:cxnSp>
      <p:sp>
        <p:nvSpPr>
          <p:cNvPr id="78" name="文本框 77"/>
          <p:cNvSpPr txBox="1"/>
          <p:nvPr/>
        </p:nvSpPr>
        <p:spPr>
          <a:xfrm>
            <a:off x="4740095" y="2790546"/>
            <a:ext cx="2000215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altLang="zh-CN" sz="12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FusionInsight</a:t>
            </a:r>
            <a:r>
              <a:rPr lang="en-US" altLang="zh-CN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HD</a:t>
            </a:r>
          </a:p>
          <a:p>
            <a:pPr algn="ctr" defTabSz="914400">
              <a:spcAft>
                <a:spcPts val="600"/>
              </a:spcAft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数据平台</a:t>
            </a:r>
            <a:endParaRPr lang="zh-CN" altLang="en-US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9" name="直接箭头连接符 78"/>
          <p:cNvCxnSpPr/>
          <p:nvPr/>
        </p:nvCxnSpPr>
        <p:spPr>
          <a:xfrm flipV="1">
            <a:off x="2810951" y="3612659"/>
            <a:ext cx="0" cy="113975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/>
        </p:nvGrpSpPr>
        <p:grpSpPr>
          <a:xfrm>
            <a:off x="713503" y="799387"/>
            <a:ext cx="10849728" cy="277318"/>
            <a:chOff x="492057" y="1043061"/>
            <a:chExt cx="10389209" cy="343698"/>
          </a:xfrm>
        </p:grpSpPr>
        <p:grpSp>
          <p:nvGrpSpPr>
            <p:cNvPr id="84" name="组合 83"/>
            <p:cNvGrpSpPr/>
            <p:nvPr/>
          </p:nvGrpSpPr>
          <p:grpSpPr>
            <a:xfrm>
              <a:off x="8983922" y="1043061"/>
              <a:ext cx="1897344" cy="323629"/>
              <a:chOff x="10650859" y="1020431"/>
              <a:chExt cx="1156355" cy="323629"/>
            </a:xfrm>
          </p:grpSpPr>
          <p:sp>
            <p:nvSpPr>
              <p:cNvPr id="108" name="Rectangle"/>
              <p:cNvSpPr/>
              <p:nvPr/>
            </p:nvSpPr>
            <p:spPr>
              <a:xfrm>
                <a:off x="10650859" y="1020431"/>
                <a:ext cx="1156355" cy="323219"/>
              </a:xfrm>
              <a:custGeom>
                <a:avLst/>
                <a:gdLst>
                  <a:gd name="connsiteX0" fmla="*/ 0 w 2523200"/>
                  <a:gd name="connsiteY0" fmla="*/ 135720 h 278400"/>
                  <a:gd name="connsiteX1" fmla="*/ 1261600 w 2523200"/>
                  <a:gd name="connsiteY1" fmla="*/ 0 h 278400"/>
                  <a:gd name="connsiteX2" fmla="*/ 2523200 w 2523200"/>
                  <a:gd name="connsiteY2" fmla="*/ 135720 h 278400"/>
                  <a:gd name="connsiteX3" fmla="*/ 1261600 w 2523200"/>
                  <a:gd name="connsiteY3" fmla="*/ 278979 h 278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23200" h="278400">
                    <a:moveTo>
                      <a:pt x="0" y="0"/>
                    </a:moveTo>
                    <a:lnTo>
                      <a:pt x="2523200" y="0"/>
                    </a:lnTo>
                    <a:lnTo>
                      <a:pt x="2523200" y="278400"/>
                    </a:lnTo>
                    <a:lnTo>
                      <a:pt x="0" y="278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" lastClr="FFFFFF">
                  <a:lumMod val="95000"/>
                </a:sysClr>
              </a:solidFill>
              <a:ln w="6350">
                <a:solidFill>
                  <a:sysClr val="window" lastClr="FFFFFF">
                    <a:lumMod val="95000"/>
                  </a:sysClr>
                </a:solidFill>
              </a:ln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385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</a:endParaRPr>
              </a:p>
            </p:txBody>
          </p:sp>
          <p:sp>
            <p:nvSpPr>
              <p:cNvPr id="112" name="文本框 111"/>
              <p:cNvSpPr txBox="1"/>
              <p:nvPr/>
            </p:nvSpPr>
            <p:spPr>
              <a:xfrm>
                <a:off x="11005489" y="1027756"/>
                <a:ext cx="764424" cy="316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121875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9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303030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报表分析</a:t>
                </a:r>
              </a:p>
            </p:txBody>
          </p:sp>
        </p:grpSp>
        <p:grpSp>
          <p:nvGrpSpPr>
            <p:cNvPr id="85" name="组合 84"/>
            <p:cNvGrpSpPr/>
            <p:nvPr/>
          </p:nvGrpSpPr>
          <p:grpSpPr>
            <a:xfrm>
              <a:off x="492057" y="1043171"/>
              <a:ext cx="1810747" cy="323219"/>
              <a:chOff x="10806725" y="1020431"/>
              <a:chExt cx="1103578" cy="323219"/>
            </a:xfrm>
          </p:grpSpPr>
          <p:sp>
            <p:nvSpPr>
              <p:cNvPr id="103" name="Rectangle"/>
              <p:cNvSpPr/>
              <p:nvPr/>
            </p:nvSpPr>
            <p:spPr>
              <a:xfrm>
                <a:off x="10806725" y="1020431"/>
                <a:ext cx="1103578" cy="323219"/>
              </a:xfrm>
              <a:custGeom>
                <a:avLst/>
                <a:gdLst>
                  <a:gd name="connsiteX0" fmla="*/ 0 w 2523200"/>
                  <a:gd name="connsiteY0" fmla="*/ 135720 h 278400"/>
                  <a:gd name="connsiteX1" fmla="*/ 1261600 w 2523200"/>
                  <a:gd name="connsiteY1" fmla="*/ 0 h 278400"/>
                  <a:gd name="connsiteX2" fmla="*/ 2523200 w 2523200"/>
                  <a:gd name="connsiteY2" fmla="*/ 135720 h 278400"/>
                  <a:gd name="connsiteX3" fmla="*/ 1261600 w 2523200"/>
                  <a:gd name="connsiteY3" fmla="*/ 278979 h 278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23200" h="278400">
                    <a:moveTo>
                      <a:pt x="0" y="0"/>
                    </a:moveTo>
                    <a:lnTo>
                      <a:pt x="2523200" y="0"/>
                    </a:lnTo>
                    <a:lnTo>
                      <a:pt x="2523200" y="278400"/>
                    </a:lnTo>
                    <a:lnTo>
                      <a:pt x="0" y="278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" lastClr="FFFFFF">
                  <a:lumMod val="95000"/>
                </a:sysClr>
              </a:solidFill>
              <a:ln w="6350">
                <a:solidFill>
                  <a:sysClr val="window" lastClr="FFFFFF">
                    <a:lumMod val="95000"/>
                  </a:sysClr>
                </a:solidFill>
              </a:ln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385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11130759" y="1027346"/>
                <a:ext cx="764424" cy="316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121875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9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303030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供电服务指挥</a:t>
                </a: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2397694" y="1056825"/>
              <a:ext cx="2066494" cy="323220"/>
              <a:chOff x="10650857" y="1020430"/>
              <a:chExt cx="1259446" cy="323220"/>
            </a:xfrm>
          </p:grpSpPr>
          <p:sp>
            <p:nvSpPr>
              <p:cNvPr id="98" name="Rectangle"/>
              <p:cNvSpPr/>
              <p:nvPr/>
            </p:nvSpPr>
            <p:spPr>
              <a:xfrm>
                <a:off x="10650857" y="1020430"/>
                <a:ext cx="1259446" cy="323219"/>
              </a:xfrm>
              <a:custGeom>
                <a:avLst/>
                <a:gdLst>
                  <a:gd name="connsiteX0" fmla="*/ 0 w 2523200"/>
                  <a:gd name="connsiteY0" fmla="*/ 135720 h 278400"/>
                  <a:gd name="connsiteX1" fmla="*/ 1261600 w 2523200"/>
                  <a:gd name="connsiteY1" fmla="*/ 0 h 278400"/>
                  <a:gd name="connsiteX2" fmla="*/ 2523200 w 2523200"/>
                  <a:gd name="connsiteY2" fmla="*/ 135720 h 278400"/>
                  <a:gd name="connsiteX3" fmla="*/ 1261600 w 2523200"/>
                  <a:gd name="connsiteY3" fmla="*/ 278979 h 278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23200" h="278400">
                    <a:moveTo>
                      <a:pt x="0" y="0"/>
                    </a:moveTo>
                    <a:lnTo>
                      <a:pt x="2523200" y="0"/>
                    </a:lnTo>
                    <a:lnTo>
                      <a:pt x="2523200" y="278400"/>
                    </a:lnTo>
                    <a:lnTo>
                      <a:pt x="0" y="278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" lastClr="FFFFFF">
                  <a:lumMod val="95000"/>
                </a:sysClr>
              </a:solidFill>
              <a:ln w="6350">
                <a:solidFill>
                  <a:sysClr val="window" lastClr="FFFFFF">
                    <a:lumMod val="95000"/>
                  </a:sysClr>
                </a:solidFill>
              </a:ln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385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</a:endParaRPr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11060477" y="1027346"/>
                <a:ext cx="764424" cy="316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121875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9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303030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客户全景视图</a:t>
                </a:r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4602758" y="1063540"/>
              <a:ext cx="2066494" cy="323219"/>
              <a:chOff x="10650857" y="1020431"/>
              <a:chExt cx="1259446" cy="323219"/>
            </a:xfrm>
          </p:grpSpPr>
          <p:sp>
            <p:nvSpPr>
              <p:cNvPr id="94" name="Rectangle"/>
              <p:cNvSpPr/>
              <p:nvPr/>
            </p:nvSpPr>
            <p:spPr>
              <a:xfrm>
                <a:off x="10650857" y="1020431"/>
                <a:ext cx="1259446" cy="323219"/>
              </a:xfrm>
              <a:custGeom>
                <a:avLst/>
                <a:gdLst>
                  <a:gd name="connsiteX0" fmla="*/ 0 w 2523200"/>
                  <a:gd name="connsiteY0" fmla="*/ 135720 h 278400"/>
                  <a:gd name="connsiteX1" fmla="*/ 1261600 w 2523200"/>
                  <a:gd name="connsiteY1" fmla="*/ 0 h 278400"/>
                  <a:gd name="connsiteX2" fmla="*/ 2523200 w 2523200"/>
                  <a:gd name="connsiteY2" fmla="*/ 135720 h 278400"/>
                  <a:gd name="connsiteX3" fmla="*/ 1261600 w 2523200"/>
                  <a:gd name="connsiteY3" fmla="*/ 278979 h 278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23200" h="278400">
                    <a:moveTo>
                      <a:pt x="0" y="0"/>
                    </a:moveTo>
                    <a:lnTo>
                      <a:pt x="2523200" y="0"/>
                    </a:lnTo>
                    <a:lnTo>
                      <a:pt x="2523200" y="278400"/>
                    </a:lnTo>
                    <a:lnTo>
                      <a:pt x="0" y="278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" lastClr="FFFFFF">
                  <a:lumMod val="95000"/>
                </a:sysClr>
              </a:solidFill>
              <a:ln w="6350">
                <a:solidFill>
                  <a:sysClr val="window" lastClr="FFFFFF">
                    <a:lumMod val="95000"/>
                  </a:sysClr>
                </a:solidFill>
              </a:ln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385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</a:endParaRP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10941893" y="1027346"/>
                <a:ext cx="865644" cy="316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121875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9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303030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在建工程支出展示</a:t>
                </a:r>
              </a:p>
            </p:txBody>
          </p:sp>
        </p:grpSp>
        <p:grpSp>
          <p:nvGrpSpPr>
            <p:cNvPr id="88" name="组合 87"/>
            <p:cNvGrpSpPr/>
            <p:nvPr/>
          </p:nvGrpSpPr>
          <p:grpSpPr>
            <a:xfrm>
              <a:off x="6802609" y="1049590"/>
              <a:ext cx="2066494" cy="323219"/>
              <a:chOff x="10650857" y="1020431"/>
              <a:chExt cx="1259446" cy="323219"/>
            </a:xfrm>
          </p:grpSpPr>
          <p:sp>
            <p:nvSpPr>
              <p:cNvPr id="89" name="Rectangle"/>
              <p:cNvSpPr/>
              <p:nvPr/>
            </p:nvSpPr>
            <p:spPr>
              <a:xfrm>
                <a:off x="10650857" y="1020431"/>
                <a:ext cx="1259446" cy="323219"/>
              </a:xfrm>
              <a:custGeom>
                <a:avLst/>
                <a:gdLst>
                  <a:gd name="connsiteX0" fmla="*/ 0 w 2523200"/>
                  <a:gd name="connsiteY0" fmla="*/ 135720 h 278400"/>
                  <a:gd name="connsiteX1" fmla="*/ 1261600 w 2523200"/>
                  <a:gd name="connsiteY1" fmla="*/ 0 h 278400"/>
                  <a:gd name="connsiteX2" fmla="*/ 2523200 w 2523200"/>
                  <a:gd name="connsiteY2" fmla="*/ 135720 h 278400"/>
                  <a:gd name="connsiteX3" fmla="*/ 1261600 w 2523200"/>
                  <a:gd name="connsiteY3" fmla="*/ 278979 h 278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23200" h="278400">
                    <a:moveTo>
                      <a:pt x="0" y="0"/>
                    </a:moveTo>
                    <a:lnTo>
                      <a:pt x="2523200" y="0"/>
                    </a:lnTo>
                    <a:lnTo>
                      <a:pt x="2523200" y="278400"/>
                    </a:lnTo>
                    <a:lnTo>
                      <a:pt x="0" y="278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" lastClr="FFFFFF">
                  <a:lumMod val="95000"/>
                </a:sysClr>
              </a:solidFill>
              <a:ln w="6350">
                <a:solidFill>
                  <a:sysClr val="window" lastClr="FFFFFF">
                    <a:lumMod val="95000"/>
                  </a:sysClr>
                </a:solidFill>
              </a:ln>
            </p:spPr>
            <p:txBody>
              <a:bodyPr wrap="square" rtlCol="0" anchor="t">
                <a:noAutofit/>
              </a:bodyPr>
              <a:lstStyle/>
              <a:p>
                <a:pPr marL="0" marR="0" lvl="0" indent="0" algn="ctr" defTabSz="913859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10941893" y="1027346"/>
                <a:ext cx="875454" cy="316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121875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303030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SG-CIM</a:t>
                </a:r>
                <a:r>
                  <a:rPr kumimoji="0" lang="zh-CN" altLang="en-US" sz="900" b="1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303030"/>
                    </a:solidFill>
                    <a:effectLst/>
                    <a:uLnTx/>
                    <a:uFillTx/>
                    <a:latin typeface="微软雅黑"/>
                    <a:ea typeface="微软雅黑"/>
                  </a:rPr>
                  <a:t>模型管理</a:t>
                </a:r>
              </a:p>
            </p:txBody>
          </p:sp>
        </p:grpSp>
      </p:grpSp>
      <p:sp>
        <p:nvSpPr>
          <p:cNvPr id="114" name="文本框 113"/>
          <p:cNvSpPr txBox="1"/>
          <p:nvPr/>
        </p:nvSpPr>
        <p:spPr>
          <a:xfrm>
            <a:off x="48245" y="690040"/>
            <a:ext cx="406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endParaRPr lang="zh-CN" altLang="en-US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圆角矩形 48"/>
          <p:cNvSpPr/>
          <p:nvPr/>
        </p:nvSpPr>
        <p:spPr bwMode="auto">
          <a:xfrm>
            <a:off x="1998149" y="3923271"/>
            <a:ext cx="2536755" cy="194378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zh-CN" altLang="en-US" sz="1100" kern="0" dirty="0">
                <a:solidFill>
                  <a:prstClr val="black"/>
                </a:solidFill>
                <a:latin typeface="微软雅黑"/>
                <a:ea typeface="微软雅黑"/>
              </a:rPr>
              <a:t>贴源层</a:t>
            </a:r>
            <a:endParaRPr lang="en-US" altLang="zh-CN" sz="1100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299300" y="118070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数据中台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总体系统架构</a:t>
            </a:r>
            <a:endParaRPr lang="en-US" sz="2400" b="1" dirty="0"/>
          </a:p>
        </p:txBody>
      </p:sp>
      <p:sp>
        <p:nvSpPr>
          <p:cNvPr id="118" name="Rectangle"/>
          <p:cNvSpPr/>
          <p:nvPr/>
        </p:nvSpPr>
        <p:spPr>
          <a:xfrm>
            <a:off x="733384" y="5797593"/>
            <a:ext cx="10857196" cy="343489"/>
          </a:xfrm>
          <a:custGeom>
            <a:avLst/>
            <a:gdLst>
              <a:gd name="connsiteX0" fmla="*/ 0 w 4649125"/>
              <a:gd name="connsiteY0" fmla="*/ 263198 h 518803"/>
              <a:gd name="connsiteX1" fmla="*/ 2324563 w 4649125"/>
              <a:gd name="connsiteY1" fmla="*/ 0 h 518803"/>
              <a:gd name="connsiteX2" fmla="*/ 4649125 w 4649125"/>
              <a:gd name="connsiteY2" fmla="*/ 263198 h 518803"/>
              <a:gd name="connsiteX3" fmla="*/ 2324563 w 4649125"/>
              <a:gd name="connsiteY3" fmla="*/ 518170 h 5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9125" h="518803">
                <a:moveTo>
                  <a:pt x="0" y="0"/>
                </a:moveTo>
                <a:lnTo>
                  <a:pt x="4649125" y="0"/>
                </a:lnTo>
                <a:lnTo>
                  <a:pt x="4649125" y="518803"/>
                </a:lnTo>
                <a:lnTo>
                  <a:pt x="0" y="518803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20000"/>
              <a:lumOff val="80000"/>
            </a:schemeClr>
          </a:solidFill>
          <a:ln w="7600" cap="flat">
            <a:solidFill>
              <a:srgbClr val="6D6D6D"/>
            </a:solidFill>
            <a:bevel/>
          </a:ln>
          <a:effectLst>
            <a:outerShdw dist="21496" dir="2700000" algn="tl" rotWithShape="0">
              <a:srgbClr val="000000">
                <a:alpha val="8000"/>
              </a:srgbClr>
            </a:outerShdw>
          </a:effectLst>
        </p:spPr>
        <p:txBody>
          <a:bodyPr wrap="square" lIns="50799" tIns="50799" rIns="50799" bIns="50799" rtlCol="0" anchor="ctr"/>
          <a:lstStyle/>
          <a:p>
            <a:pPr defTabSz="121875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300" b="1" kern="0" dirty="0">
                <a:solidFill>
                  <a:srgbClr val="303030"/>
                </a:solidFill>
                <a:latin typeface="微软雅黑"/>
                <a:ea typeface="微软雅黑"/>
              </a:rPr>
              <a:t>  </a:t>
            </a:r>
            <a:endParaRPr sz="1100" b="1" kern="0" dirty="0">
              <a:solidFill>
                <a:srgbClr val="FF0000"/>
              </a:solidFill>
              <a:latin typeface="微软雅黑"/>
              <a:ea typeface="微软雅黑"/>
            </a:endParaRPr>
          </a:p>
        </p:txBody>
      </p:sp>
      <p:sp>
        <p:nvSpPr>
          <p:cNvPr id="45" name="圆角矩形 44"/>
          <p:cNvSpPr/>
          <p:nvPr/>
        </p:nvSpPr>
        <p:spPr bwMode="auto">
          <a:xfrm>
            <a:off x="2049371" y="1374217"/>
            <a:ext cx="1620000" cy="192093"/>
          </a:xfrm>
          <a:prstGeom prst="roundRect">
            <a:avLst/>
          </a:prstGeom>
          <a:solidFill>
            <a:srgbClr val="E9E9E7"/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zh-CN" altLang="en-US" sz="1100" kern="0" dirty="0">
                <a:solidFill>
                  <a:prstClr val="black"/>
                </a:solidFill>
                <a:latin typeface="微软雅黑"/>
                <a:ea typeface="微软雅黑"/>
              </a:rPr>
              <a:t>数据资源管理平台软件</a:t>
            </a:r>
            <a:endParaRPr lang="en-US" altLang="zh-CN" sz="1100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46" name="圆角矩形 45"/>
          <p:cNvSpPr/>
          <p:nvPr/>
        </p:nvSpPr>
        <p:spPr bwMode="auto">
          <a:xfrm>
            <a:off x="3886544" y="1379391"/>
            <a:ext cx="1480102" cy="192093"/>
          </a:xfrm>
          <a:prstGeom prst="roundRect">
            <a:avLst/>
          </a:prstGeom>
          <a:solidFill>
            <a:srgbClr val="E9E9E7"/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zh-CN" altLang="en-US" sz="1100" kern="0" dirty="0">
                <a:solidFill>
                  <a:prstClr val="black"/>
                </a:solidFill>
                <a:latin typeface="微软雅黑"/>
                <a:ea typeface="微软雅黑"/>
              </a:rPr>
              <a:t>数据治理平台软件</a:t>
            </a:r>
            <a:endParaRPr lang="en-US" altLang="zh-CN" sz="1100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47" name="圆角矩形 46"/>
          <p:cNvSpPr/>
          <p:nvPr/>
        </p:nvSpPr>
        <p:spPr bwMode="auto">
          <a:xfrm>
            <a:off x="8194005" y="1371252"/>
            <a:ext cx="2268000" cy="205013"/>
          </a:xfrm>
          <a:prstGeom prst="roundRect">
            <a:avLst/>
          </a:prstGeom>
          <a:solidFill>
            <a:srgbClr val="E9E9E7"/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zh-CN" altLang="en-US" sz="1100" kern="0" dirty="0">
                <a:solidFill>
                  <a:prstClr val="black"/>
                </a:solidFill>
                <a:latin typeface="微软雅黑"/>
                <a:ea typeface="微软雅黑"/>
              </a:rPr>
              <a:t>数据</a:t>
            </a:r>
            <a:r>
              <a:rPr lang="zh-CN" altLang="en-US" sz="1100" kern="0" dirty="0" smtClean="0">
                <a:solidFill>
                  <a:prstClr val="black"/>
                </a:solidFill>
                <a:latin typeface="微软雅黑"/>
                <a:ea typeface="微软雅黑"/>
              </a:rPr>
              <a:t>服务</a:t>
            </a:r>
            <a:r>
              <a:rPr lang="zh-CN" altLang="en-US" sz="1100" kern="0" dirty="0">
                <a:solidFill>
                  <a:prstClr val="black"/>
                </a:solidFill>
                <a:latin typeface="微软雅黑"/>
                <a:ea typeface="微软雅黑"/>
              </a:rPr>
              <a:t>（云</a:t>
            </a:r>
            <a:r>
              <a:rPr lang="zh-CN" altLang="en-US" sz="1100" kern="0" dirty="0" smtClean="0">
                <a:solidFill>
                  <a:prstClr val="black"/>
                </a:solidFill>
                <a:latin typeface="微软雅黑"/>
                <a:ea typeface="微软雅黑"/>
              </a:rPr>
              <a:t>组件</a:t>
            </a:r>
            <a:r>
              <a:rPr lang="en-US" altLang="zh-CN" sz="1100" kern="0" dirty="0" err="1" smtClean="0">
                <a:solidFill>
                  <a:prstClr val="black"/>
                </a:solidFill>
                <a:latin typeface="微软雅黑"/>
                <a:ea typeface="微软雅黑"/>
              </a:rPr>
              <a:t>FusionStage</a:t>
            </a:r>
            <a:r>
              <a:rPr lang="zh-CN" altLang="en-US" sz="1100" kern="0" dirty="0" smtClean="0">
                <a:solidFill>
                  <a:prstClr val="black"/>
                </a:solidFill>
                <a:latin typeface="微软雅黑"/>
                <a:ea typeface="微软雅黑"/>
              </a:rPr>
              <a:t>）</a:t>
            </a:r>
            <a:endParaRPr lang="en-US" altLang="zh-CN" sz="1100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59044" y="5725494"/>
            <a:ext cx="404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1165602" y="5878708"/>
            <a:ext cx="10044000" cy="198482"/>
            <a:chOff x="1165602" y="6422746"/>
            <a:chExt cx="7170944" cy="198482"/>
          </a:xfrm>
        </p:grpSpPr>
        <p:sp>
          <p:nvSpPr>
            <p:cNvPr id="124" name="圆角矩形 123"/>
            <p:cNvSpPr/>
            <p:nvPr/>
          </p:nvSpPr>
          <p:spPr bwMode="auto">
            <a:xfrm>
              <a:off x="1165602" y="6425023"/>
              <a:ext cx="1673735" cy="19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rgbClr val="4F81BD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defTabSz="913859"/>
              <a:r>
                <a:rPr lang="en-US" altLang="zh-CN" sz="1100" kern="0" dirty="0" smtClean="0">
                  <a:solidFill>
                    <a:prstClr val="black"/>
                  </a:solidFill>
                  <a:latin typeface="微软雅黑"/>
                  <a:ea typeface="微软雅黑"/>
                </a:rPr>
                <a:t>X86</a:t>
              </a:r>
              <a:r>
                <a:rPr lang="zh-CN" altLang="en-US" sz="1100" kern="0" dirty="0" smtClean="0">
                  <a:solidFill>
                    <a:prstClr val="black"/>
                  </a:solidFill>
                  <a:latin typeface="微软雅黑"/>
                  <a:ea typeface="微软雅黑"/>
                </a:rPr>
                <a:t>服务器（管控）</a:t>
              </a:r>
              <a:endParaRPr lang="en-US" altLang="zh-CN" sz="1100" kern="0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5" name="圆角矩形 124"/>
            <p:cNvSpPr/>
            <p:nvPr/>
          </p:nvSpPr>
          <p:spPr bwMode="auto">
            <a:xfrm>
              <a:off x="3013021" y="6427079"/>
              <a:ext cx="1673735" cy="19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rgbClr val="4F81BD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defTabSz="913859"/>
              <a:r>
                <a:rPr lang="en-US" altLang="zh-CN" sz="1100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X86</a:t>
              </a:r>
              <a:r>
                <a:rPr lang="zh-CN" altLang="en-US" sz="1100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服务器</a:t>
              </a:r>
              <a:r>
                <a:rPr lang="zh-CN" altLang="en-US" sz="1100" kern="0" dirty="0" smtClean="0">
                  <a:solidFill>
                    <a:prstClr val="black"/>
                  </a:solidFill>
                  <a:latin typeface="微软雅黑"/>
                  <a:ea typeface="微软雅黑"/>
                </a:rPr>
                <a:t>（计算）</a:t>
              </a:r>
              <a:endParaRPr lang="en-US" altLang="zh-CN" sz="1100" kern="0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6" name="圆角矩形 125"/>
            <p:cNvSpPr/>
            <p:nvPr/>
          </p:nvSpPr>
          <p:spPr bwMode="auto">
            <a:xfrm>
              <a:off x="4839156" y="6429135"/>
              <a:ext cx="1673735" cy="19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rgbClr val="4F81BD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defTabSz="913859"/>
              <a:r>
                <a:rPr lang="en-US" altLang="zh-CN" sz="1100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X86</a:t>
              </a:r>
              <a:r>
                <a:rPr lang="zh-CN" altLang="en-US" sz="1100" kern="0" dirty="0">
                  <a:solidFill>
                    <a:prstClr val="black"/>
                  </a:solidFill>
                  <a:latin typeface="微软雅黑"/>
                  <a:ea typeface="微软雅黑"/>
                </a:rPr>
                <a:t>服务器</a:t>
              </a:r>
              <a:r>
                <a:rPr lang="zh-CN" altLang="en-US" sz="1100" kern="0" dirty="0" smtClean="0">
                  <a:solidFill>
                    <a:prstClr val="black"/>
                  </a:solidFill>
                  <a:latin typeface="微软雅黑"/>
                  <a:ea typeface="微软雅黑"/>
                </a:rPr>
                <a:t>（存储）</a:t>
              </a:r>
              <a:endParaRPr lang="en-US" altLang="zh-CN" sz="1100" kern="0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  <p:sp>
          <p:nvSpPr>
            <p:cNvPr id="127" name="圆角矩形 126"/>
            <p:cNvSpPr/>
            <p:nvPr/>
          </p:nvSpPr>
          <p:spPr bwMode="auto">
            <a:xfrm>
              <a:off x="6662811" y="6422746"/>
              <a:ext cx="1673735" cy="192093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rgbClr val="4F81BD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 defTabSz="913859"/>
              <a:r>
                <a:rPr lang="zh-CN" altLang="en-US" sz="1100" kern="0" dirty="0" smtClean="0">
                  <a:solidFill>
                    <a:prstClr val="black"/>
                  </a:solidFill>
                  <a:latin typeface="微软雅黑"/>
                  <a:ea typeface="微软雅黑"/>
                </a:rPr>
                <a:t>交换机（</a:t>
              </a:r>
              <a:r>
                <a:rPr lang="en-US" altLang="zh-CN" sz="1100" kern="0" dirty="0" smtClean="0">
                  <a:solidFill>
                    <a:prstClr val="black"/>
                  </a:solidFill>
                  <a:latin typeface="微软雅黑"/>
                  <a:ea typeface="微软雅黑"/>
                </a:rPr>
                <a:t>GE/10GE…</a:t>
              </a:r>
              <a:r>
                <a:rPr lang="zh-CN" altLang="en-US" sz="1100" kern="0" dirty="0" smtClean="0">
                  <a:solidFill>
                    <a:prstClr val="black"/>
                  </a:solidFill>
                  <a:latin typeface="微软雅黑"/>
                  <a:ea typeface="微软雅黑"/>
                </a:rPr>
                <a:t>）</a:t>
              </a:r>
              <a:endParaRPr lang="en-US" altLang="zh-CN" sz="1100" kern="0" dirty="0">
                <a:solidFill>
                  <a:prstClr val="black"/>
                </a:solidFill>
                <a:latin typeface="微软雅黑"/>
                <a:ea typeface="微软雅黑"/>
              </a:endParaRPr>
            </a:p>
          </p:txBody>
        </p:sp>
      </p:grpSp>
      <p:cxnSp>
        <p:nvCxnSpPr>
          <p:cNvPr id="56" name="直接箭头连接符 55"/>
          <p:cNvCxnSpPr/>
          <p:nvPr/>
        </p:nvCxnSpPr>
        <p:spPr>
          <a:xfrm flipV="1">
            <a:off x="10114575" y="4142558"/>
            <a:ext cx="0" cy="972000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1" name="Rectangle"/>
          <p:cNvSpPr/>
          <p:nvPr/>
        </p:nvSpPr>
        <p:spPr>
          <a:xfrm>
            <a:off x="10940142" y="1786087"/>
            <a:ext cx="623074" cy="2910633"/>
          </a:xfrm>
          <a:custGeom>
            <a:avLst/>
            <a:gdLst>
              <a:gd name="connsiteX0" fmla="*/ 0 w 4649125"/>
              <a:gd name="connsiteY0" fmla="*/ 263198 h 518803"/>
              <a:gd name="connsiteX1" fmla="*/ 2324563 w 4649125"/>
              <a:gd name="connsiteY1" fmla="*/ 0 h 518803"/>
              <a:gd name="connsiteX2" fmla="*/ 4649125 w 4649125"/>
              <a:gd name="connsiteY2" fmla="*/ 263198 h 518803"/>
              <a:gd name="connsiteX3" fmla="*/ 2324563 w 4649125"/>
              <a:gd name="connsiteY3" fmla="*/ 518170 h 5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9125" h="518803">
                <a:moveTo>
                  <a:pt x="0" y="0"/>
                </a:moveTo>
                <a:lnTo>
                  <a:pt x="4649125" y="0"/>
                </a:lnTo>
                <a:lnTo>
                  <a:pt x="4649125" y="518803"/>
                </a:lnTo>
                <a:lnTo>
                  <a:pt x="0" y="51880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7600" cap="flat">
            <a:solidFill>
              <a:srgbClr val="6D6D6D"/>
            </a:solidFill>
            <a:bevel/>
          </a:ln>
          <a:effectLst>
            <a:outerShdw dist="21496" dir="2700000" algn="tl" rotWithShape="0">
              <a:srgbClr val="000000">
                <a:alpha val="8000"/>
              </a:srgbClr>
            </a:outerShdw>
          </a:effectLst>
        </p:spPr>
        <p:txBody>
          <a:bodyPr vert="eaVert" wrap="square" lIns="50799" tIns="50799" rIns="50799" bIns="50799" rtlCol="0" anchor="ctr"/>
          <a:lstStyle/>
          <a:p>
            <a:pPr algn="ctr" defTabSz="121875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400" kern="0" dirty="0" smtClean="0">
                <a:latin typeface="微软雅黑"/>
                <a:ea typeface="微软雅黑"/>
              </a:rPr>
              <a:t>统一管理</a:t>
            </a:r>
            <a:endParaRPr sz="1400" kern="0" dirty="0">
              <a:latin typeface="微软雅黑"/>
              <a:ea typeface="微软雅黑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10860682" y="3834287"/>
            <a:ext cx="78739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8756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800" kern="0" dirty="0" err="1">
                <a:latin typeface="微软雅黑"/>
                <a:ea typeface="微软雅黑"/>
              </a:rPr>
              <a:t>ManageOne</a:t>
            </a:r>
            <a:endParaRPr lang="en-US" sz="800" kern="0" dirty="0">
              <a:latin typeface="微软雅黑"/>
              <a:ea typeface="微软雅黑"/>
            </a:endParaRPr>
          </a:p>
        </p:txBody>
      </p:sp>
      <p:sp>
        <p:nvSpPr>
          <p:cNvPr id="129" name="Rectangle"/>
          <p:cNvSpPr/>
          <p:nvPr/>
        </p:nvSpPr>
        <p:spPr>
          <a:xfrm>
            <a:off x="9690821" y="1982017"/>
            <a:ext cx="991690" cy="1060241"/>
          </a:xfrm>
          <a:custGeom>
            <a:avLst/>
            <a:gdLst>
              <a:gd name="connsiteX0" fmla="*/ 0 w 4649125"/>
              <a:gd name="connsiteY0" fmla="*/ 263198 h 518803"/>
              <a:gd name="connsiteX1" fmla="*/ 2324563 w 4649125"/>
              <a:gd name="connsiteY1" fmla="*/ 0 h 518803"/>
              <a:gd name="connsiteX2" fmla="*/ 4649125 w 4649125"/>
              <a:gd name="connsiteY2" fmla="*/ 263198 h 518803"/>
              <a:gd name="connsiteX3" fmla="*/ 2324563 w 4649125"/>
              <a:gd name="connsiteY3" fmla="*/ 518170 h 51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9125" h="518803">
                <a:moveTo>
                  <a:pt x="0" y="0"/>
                </a:moveTo>
                <a:lnTo>
                  <a:pt x="4649125" y="0"/>
                </a:lnTo>
                <a:lnTo>
                  <a:pt x="4649125" y="518803"/>
                </a:lnTo>
                <a:lnTo>
                  <a:pt x="0" y="518803"/>
                </a:lnTo>
                <a:lnTo>
                  <a:pt x="0" y="0"/>
                </a:lnTo>
                <a:close/>
              </a:path>
            </a:pathLst>
          </a:custGeom>
          <a:solidFill>
            <a:srgbClr val="E9E9E7"/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4400">
              <a:spcAft>
                <a:spcPts val="600"/>
              </a:spcAft>
            </a:pPr>
            <a:r>
              <a:rPr lang="zh-CN" altLang="en-US" sz="1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内存计算</a:t>
            </a:r>
            <a:endParaRPr lang="en-US" altLang="zh-CN" sz="1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00">
              <a:spcAft>
                <a:spcPts val="600"/>
              </a:spcAft>
            </a:pPr>
            <a:r>
              <a:rPr lang="en-US" altLang="zh-CN" sz="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r>
              <a:rPr lang="zh-CN" altLang="en-US" sz="9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</a:t>
            </a:r>
          </a:p>
        </p:txBody>
      </p:sp>
      <p:sp>
        <p:nvSpPr>
          <p:cNvPr id="52" name="圆角矩形 51"/>
          <p:cNvSpPr/>
          <p:nvPr/>
        </p:nvSpPr>
        <p:spPr bwMode="auto">
          <a:xfrm>
            <a:off x="6307182" y="4502253"/>
            <a:ext cx="4374619" cy="19446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en-US" altLang="zh-CN" sz="1050" kern="0" dirty="0">
                <a:solidFill>
                  <a:prstClr val="black"/>
                </a:solidFill>
                <a:latin typeface="微软雅黑"/>
                <a:ea typeface="微软雅黑"/>
              </a:rPr>
              <a:t>DAYU</a:t>
            </a:r>
          </a:p>
        </p:txBody>
      </p:sp>
      <p:cxnSp>
        <p:nvCxnSpPr>
          <p:cNvPr id="136" name="直接箭头连接符 135"/>
          <p:cNvCxnSpPr/>
          <p:nvPr/>
        </p:nvCxnSpPr>
        <p:spPr>
          <a:xfrm flipV="1">
            <a:off x="8044574" y="3052192"/>
            <a:ext cx="0" cy="685622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8" name="圆角矩形 137"/>
          <p:cNvSpPr/>
          <p:nvPr/>
        </p:nvSpPr>
        <p:spPr bwMode="auto">
          <a:xfrm>
            <a:off x="5588243" y="1371251"/>
            <a:ext cx="2403088" cy="202443"/>
          </a:xfrm>
          <a:prstGeom prst="roundRect">
            <a:avLst/>
          </a:prstGeom>
          <a:solidFill>
            <a:srgbClr val="E9E9E7"/>
          </a:solidFill>
          <a:ln>
            <a:solidFill>
              <a:srgbClr val="4F81BD"/>
            </a:solidFill>
          </a:ln>
        </p:spPr>
        <p:txBody>
          <a:bodyPr wrap="square" rtlCol="0" anchor="ctr">
            <a:noAutofit/>
          </a:bodyPr>
          <a:lstStyle/>
          <a:p>
            <a:pPr algn="ctr" defTabSz="913859"/>
            <a:r>
              <a:rPr lang="zh-CN" altLang="en-US" sz="1100" kern="0" dirty="0" smtClean="0">
                <a:solidFill>
                  <a:prstClr val="black"/>
                </a:solidFill>
                <a:latin typeface="微软雅黑"/>
                <a:ea typeface="微软雅黑"/>
              </a:rPr>
              <a:t>数据分析（</a:t>
            </a:r>
            <a:r>
              <a:rPr lang="en-US" altLang="zh-CN" sz="1100" kern="0" dirty="0">
                <a:solidFill>
                  <a:prstClr val="black"/>
                </a:solidFill>
                <a:latin typeface="微软雅黑"/>
                <a:ea typeface="微软雅黑"/>
              </a:rPr>
              <a:t> </a:t>
            </a:r>
            <a:r>
              <a:rPr lang="en-US" altLang="zh-CN" sz="1100" kern="0" dirty="0" err="1">
                <a:solidFill>
                  <a:prstClr val="black"/>
                </a:solidFill>
                <a:latin typeface="微软雅黑"/>
                <a:ea typeface="微软雅黑"/>
              </a:rPr>
              <a:t>SmartBI</a:t>
            </a:r>
            <a:r>
              <a:rPr lang="en-US" altLang="zh-CN" sz="1100" kern="0" dirty="0">
                <a:solidFill>
                  <a:prstClr val="black"/>
                </a:solidFill>
                <a:latin typeface="微软雅黑"/>
                <a:ea typeface="微软雅黑"/>
              </a:rPr>
              <a:t> </a:t>
            </a:r>
            <a:r>
              <a:rPr lang="en-US" altLang="zh-CN" sz="1100" kern="0" dirty="0" smtClean="0">
                <a:solidFill>
                  <a:prstClr val="black"/>
                </a:solidFill>
                <a:latin typeface="微软雅黑"/>
                <a:ea typeface="微软雅黑"/>
              </a:rPr>
              <a:t>Insight</a:t>
            </a:r>
            <a:r>
              <a:rPr lang="zh-CN" altLang="en-US" sz="1100" kern="0" dirty="0" smtClean="0">
                <a:solidFill>
                  <a:prstClr val="black"/>
                </a:solidFill>
                <a:latin typeface="微软雅黑"/>
                <a:ea typeface="微软雅黑"/>
              </a:rPr>
              <a:t>）</a:t>
            </a:r>
            <a:endParaRPr lang="en-US" altLang="zh-CN" sz="1100" kern="0" dirty="0">
              <a:solidFill>
                <a:prstClr val="black"/>
              </a:solidFill>
              <a:latin typeface="微软雅黑"/>
              <a:ea typeface="微软雅黑"/>
            </a:endParaRPr>
          </a:p>
        </p:txBody>
      </p:sp>
      <p:cxnSp>
        <p:nvCxnSpPr>
          <p:cNvPr id="140" name="直接箭头连接符 139"/>
          <p:cNvCxnSpPr/>
          <p:nvPr/>
        </p:nvCxnSpPr>
        <p:spPr>
          <a:xfrm flipV="1">
            <a:off x="9131304" y="3047650"/>
            <a:ext cx="0" cy="685622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1" name="直接箭头连接符 140"/>
          <p:cNvCxnSpPr/>
          <p:nvPr/>
        </p:nvCxnSpPr>
        <p:spPr>
          <a:xfrm flipV="1">
            <a:off x="10216527" y="3049479"/>
            <a:ext cx="0" cy="685622"/>
          </a:xfrm>
          <a:prstGeom prst="straightConnector1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4" name="矩形 143"/>
          <p:cNvSpPr/>
          <p:nvPr/>
        </p:nvSpPr>
        <p:spPr>
          <a:xfrm>
            <a:off x="0" y="1092436"/>
            <a:ext cx="11878733" cy="47410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1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9300" y="118070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组件说明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330507"/>
              </p:ext>
            </p:extLst>
          </p:nvPr>
        </p:nvGraphicFramePr>
        <p:xfrm>
          <a:off x="396873" y="620710"/>
          <a:ext cx="11177059" cy="59866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77927"/>
                <a:gridCol w="1681969"/>
                <a:gridCol w="8317163"/>
              </a:tblGrid>
              <a:tr h="1627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华为组件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功能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说明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00B0F0"/>
                    </a:solidFill>
                  </a:tcPr>
                </a:tc>
              </a:tr>
              <a:tr h="274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GaussDB200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分布式数据仓库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提供基于大规模并行处理架构的结构化数据存储、复杂关联查询等能力以及统一的图形化数据库管理能力，提供数据库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SQL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标准访问接口和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ODBC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、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JDBC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等开发接口，支持大规模集群部署、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PB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级数据存储，集群具备在线动态扩容、高并发响应等能力。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274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GaussDB100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分布式关系数据库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提供数据冗余存储、分库分表、读写分离、数据存储平滑扩容、分布式运维指令集、分布式事务等能力以及统一的图形化数据库管理能力；提供数据库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SQL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标准访问接口和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ODBC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、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JDBC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等开发接口，支持大规模集群部署，集群具备高并发响应能力。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3081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 err="1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FusionInsight</a:t>
                      </a:r>
                      <a:r>
                        <a:rPr 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 </a:t>
                      </a:r>
                      <a:r>
                        <a:rPr 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HD</a:t>
                      </a:r>
                    </a:p>
                    <a:p>
                      <a:pPr algn="ctr" fontAlgn="ctr"/>
                      <a:r>
                        <a:rPr 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（</a:t>
                      </a:r>
                      <a:r>
                        <a:rPr lang="en-US" sz="900" u="none" strike="noStrike" dirty="0" err="1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H</a:t>
                      </a:r>
                      <a:r>
                        <a:rPr lang="en-US" altLang="zh-CN" sz="900" u="none" strike="noStrike" dirty="0" err="1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b</a:t>
                      </a:r>
                      <a:r>
                        <a:rPr lang="en-US" sz="900" u="none" strike="noStrike" dirty="0" err="1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ase</a:t>
                      </a:r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组件）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分布式列式数据库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提供列式存储、在线快速读写、线性扩展等能力以及统一的图形化数据库管理能力，支持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API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接口访问、扩展的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SQL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访问等，支持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ODBC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、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JDBC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等开发接口，支持大规模集群部署、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PB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级数据存储、在线动态扩容等。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3081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 err="1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FusionInsight</a:t>
                      </a:r>
                      <a:r>
                        <a:rPr 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 </a:t>
                      </a:r>
                      <a:r>
                        <a:rPr 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HD</a:t>
                      </a:r>
                    </a:p>
                    <a:p>
                      <a:pPr algn="ctr" fontAlgn="ctr"/>
                      <a:r>
                        <a:rPr 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（</a:t>
                      </a:r>
                      <a:r>
                        <a:rPr lang="en-US" sz="900" u="none" strike="noStrike" dirty="0" err="1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MapReduce</a:t>
                      </a:r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组件）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批量计算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提供基于分布式架构的批量计算的任务定义、提交、调度、监控等能力及统一的图形化计算管理能力，提供通过批量计算服务</a:t>
                      </a:r>
                      <a:r>
                        <a:rPr lang="en-US" altLang="zh-CN" sz="800" u="none" strike="noStrike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API</a:t>
                      </a:r>
                      <a:r>
                        <a:rPr lang="zh-CN" altLang="en-US" sz="800" u="none" strike="noStrike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调用实现计算逻辑的能力，具备错误检测和恢复机制，支持</a:t>
                      </a:r>
                      <a:r>
                        <a:rPr lang="en-US" altLang="zh-CN" sz="800" u="none" strike="noStrike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C/C++/Java</a:t>
                      </a:r>
                      <a:r>
                        <a:rPr lang="zh-CN" altLang="en-US" sz="800" u="none" strike="noStrike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等编程语言。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3081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 err="1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FusionInsight</a:t>
                      </a:r>
                      <a:r>
                        <a:rPr 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 </a:t>
                      </a:r>
                      <a:r>
                        <a:rPr 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HD</a:t>
                      </a:r>
                    </a:p>
                    <a:p>
                      <a:pPr algn="ctr" fontAlgn="ctr"/>
                      <a:r>
                        <a:rPr 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（</a:t>
                      </a:r>
                      <a:r>
                        <a:rPr 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Spark</a:t>
                      </a:r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组件）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内存计算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提供基于分布式架构的内存计算的任务定义、提交、调度、监控等能力及统一的图形化计算管理能力，提供通过内存计算服务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API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调用实现计算逻辑的能力，具备错误检测和恢复机制，支持使用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Java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、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Scala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、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Python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等编程语言。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4098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 err="1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FusionInsight</a:t>
                      </a:r>
                      <a:r>
                        <a:rPr 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 </a:t>
                      </a:r>
                      <a:r>
                        <a:rPr 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HD</a:t>
                      </a:r>
                    </a:p>
                    <a:p>
                      <a:pPr algn="ctr" fontAlgn="ctr"/>
                      <a:r>
                        <a:rPr 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（</a:t>
                      </a:r>
                      <a:r>
                        <a:rPr lang="en-US" sz="900" u="none" strike="noStrike" dirty="0" err="1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Flink</a:t>
                      </a:r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组件）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流计算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提供基于分布式架构的流计算的任务定义、提交、调度、监控等能力及统一的图形化计算管理能力，提供通过流计算服务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API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调用实现计算逻辑的能力，具备错误检测和恢复机制，支持消息队列输入输出，对接分布式数据仓库、分布式关系数据库、分布式文件系统、分布式列式数据库等多种数据源，支持多种内建的字符串、时间、统计、逻辑运算表达式等类型函数，支持用户自定义计算函数，支持在数据流上执行类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SQL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任务。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3081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 err="1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FusionInsight</a:t>
                      </a:r>
                      <a:r>
                        <a:rPr 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 HD</a:t>
                      </a:r>
                    </a:p>
                    <a:p>
                      <a:pPr algn="ctr" fontAlgn="ctr"/>
                      <a:r>
                        <a:rPr 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（</a:t>
                      </a:r>
                      <a:r>
                        <a:rPr lang="en-US" altLang="zh-CN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Kafka</a:t>
                      </a:r>
                      <a:r>
                        <a:rPr lang="zh-CN" alt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组件）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消息队列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提供分布式的、分区的、多副本的实时消息发布和订阅系统。提供可扩展、高吞吐、低延迟、高可靠的消息分发服务。</a:t>
                      </a:r>
                      <a:endParaRPr lang="zh-CN" alt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+mn-cs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3081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 err="1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FusionInsight</a:t>
                      </a:r>
                      <a:r>
                        <a:rPr 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 HD</a:t>
                      </a:r>
                    </a:p>
                    <a:p>
                      <a:pPr algn="ctr" fontAlgn="ctr"/>
                      <a:r>
                        <a:rPr 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（</a:t>
                      </a:r>
                      <a:r>
                        <a:rPr lang="en-US" altLang="zh-CN" sz="900" u="none" strike="noStrike" dirty="0" err="1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Redis</a:t>
                      </a:r>
                      <a:r>
                        <a:rPr lang="zh-CN" alt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组件）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内存数据库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提供一个开源的、高性能的</a:t>
                      </a:r>
                      <a:r>
                        <a:rPr lang="en-US" altLang="zh-CN" sz="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key-value</a:t>
                      </a:r>
                      <a:r>
                        <a:rPr lang="zh-CN" altLang="en-US" sz="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分布式存储数据库，支持丰富的数据类型，弥补了</a:t>
                      </a:r>
                      <a:r>
                        <a:rPr lang="en-US" altLang="zh-CN" sz="80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memcached</a:t>
                      </a:r>
                      <a:r>
                        <a:rPr lang="zh-CN" altLang="en-US" sz="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这类</a:t>
                      </a:r>
                      <a:r>
                        <a:rPr lang="en-US" altLang="zh-CN" sz="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key-value</a:t>
                      </a:r>
                      <a:r>
                        <a:rPr lang="zh-CN" altLang="en-US" sz="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存储的不足，满足实时的高并发需求。</a:t>
                      </a:r>
                      <a:endParaRPr lang="zh-CN" alt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+mn-cs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274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 err="1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FusionStage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数据服务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提供对数据服务的统一管理配置、注册与发现、服务调用、服务编排组合、容错处理、服务跟踪、身份认证与授权、限流等能力；支持以第三方接口、</a:t>
                      </a:r>
                      <a:r>
                        <a:rPr lang="en-US" altLang="zh-CN" sz="800" u="none" strike="noStrike" dirty="0" err="1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WebService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和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Restful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等形式对外提供统一数据服务；支持对外提供服务目录，为用户提供各类服务的可视化查询、检索等能力。支持对以上功能进行二次开发。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274244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数据资源管理平台</a:t>
                      </a:r>
                      <a:r>
                        <a:rPr lang="zh-CN" alt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软件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数据资产目录管理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提供对主流数据库、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ETL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工具等元数据动态采集能力；支持在线动态创建不同类型数据资源目录及资源绑定；支持数据资源检索、资源分级权限管理等；支持数据资源目录以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restful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等接口对外发布提供服务；支持数据资源血缘分析、数据影响分析、数据资源逻辑分布等数据资源目录的可视化展示；支持对以上功能进行二次开发。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274244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数据模型管理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数据模型的发布、版本管理、模型比对、差异化模型管理等在线管理能力，支持将已纳管数据模型标准分发至二级单位；支持数据模型可视化展示及查询；支持模型多版本管理及版本间差异分析；支持设计态模型与运行态模型比对管理与分析；支持对以上功能进行二次开发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274244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数据质量管理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支持数据质量规则配置（完整性、准确性、及时性等规则），支持构建数据质量核查规则库；支持在线与离线数据质量校核；支持质量核查任务的动态创建及调度配置，根据调度策略执行核查任务，并生成相关核查结果；支持对以上功能进行二次开发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274244"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数据标签管理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提供对标签的创建、修改、发布、下线等全生命周期管理能力；支持通过配置规则对不同数据对象自动打标签；支持自动创建标签信息库；支持对标签信息的查询、检索等。支持对以上功能进行二次开发。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30814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数据治理平台软件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数据治理、安全管理、数据开发</a:t>
                      </a:r>
                      <a:endParaRPr lang="zh-CN" alt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+mn-cs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为数据中台的使用过程提供各种管理支撑能力，对数据服务和脱敏规则等进行参数配置，对链路进行安全监控和调度计量，对数据开发提供在线交互功能，是实现数据全生命周期监控的基本工具集</a:t>
                      </a:r>
                      <a:endParaRPr lang="zh-CN" alt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+mn-cs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2742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R7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数据复制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具备基于数据库日志的增量捕获机制，实现源端数据库到数据中台贴源层的数据实时同步。支持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Oracle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、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MySQL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、</a:t>
                      </a:r>
                      <a:r>
                        <a:rPr lang="en-US" altLang="zh-CN" sz="800" u="none" strike="noStrike" dirty="0" err="1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PostgreSQL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等常见关系数据库同步复制；支持以接口形式对外提供增量数据；支持各环节的运行日志和可视化监控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27424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DAYU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ETL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内外部异构数据抽取、转换、加载、调度、监控能力。支持对主流数据库、常见格式文件、大数据组件的适配；支持批量、并行、增量、变量控制等数据处理机制，具备完善的数据加工处理功能；支持在线调度和监控能力，提供与第三方应用交互接口；支持可视化任务编排、可视化管理、可视化监控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274244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 err="1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SmartBI</a:t>
                      </a:r>
                      <a:r>
                        <a:rPr 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 Insight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 smtClean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报表分析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提供开放的自助式报表设计界面，支持以自助式方式基于报表设计器开展个性化报表设计、查询、图形化展现配置、报表作业流程化配置及编排等，支持主流数据库、文件以及第三方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API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接口等数据源。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274244"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自助式分析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直观、易用的拖拉式界面，通过选择主题相关的表及相应的图表、文字等展现形式，设置布局、样式等信息，形成相关图表分析功能；支持通过在线拖拉方式，实现分析挖掘模型构建与训练；数据源可支持主流数据库、文件以及第三方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API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接口等；内置主流的数据挖掘、机器学习等算法；内置主流可视化图表控件，支持动态集成第三方可视化控件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274244">
                <a:tc vMerge="1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数据可视化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提供图形化拖拽等简易配置可视化场景的能力；预置多种业务典型模板，可支持基于模板快速构建可视化场景；提供丰富的组件库，满足不同业务的展示需求；数据源可支持主流数据库、文件以及第三方</a:t>
                      </a:r>
                      <a:r>
                        <a:rPr lang="en-US" altLang="zh-CN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API</a:t>
                      </a:r>
                      <a:r>
                        <a:rPr lang="zh-CN" altLang="en-US" sz="800" u="none" strike="noStrike" dirty="0"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接口等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</a:tr>
              <a:tr h="2742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ManageOne</a:t>
                      </a: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</a:rPr>
                        <a:t>　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统一管理与能力开放</a:t>
                      </a:r>
                      <a:endParaRPr lang="zh-CN" altLang="en-US" sz="800" u="none" strike="noStrike" kern="1200" dirty="0">
                        <a:solidFill>
                          <a:schemeClr val="tx1"/>
                        </a:solidFill>
                        <a:effectLst/>
                        <a:latin typeface="华文仿宋" panose="02010600040101010101" pitchFamily="2" charset="-122"/>
                        <a:ea typeface="华文仿宋" panose="02010600040101010101" pitchFamily="2" charset="-122"/>
                        <a:cs typeface="+mn-cs"/>
                      </a:endParaRPr>
                    </a:p>
                  </a:txBody>
                  <a:tcPr marL="2733" marR="2733" marT="2733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提供对</a:t>
                      </a:r>
                      <a:r>
                        <a:rPr lang="zh-CN" altLang="en-US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部署于不同物理数据中心的资源统一管理；开放</a:t>
                      </a:r>
                      <a:r>
                        <a:rPr lang="en-US" altLang="zh-CN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API</a:t>
                      </a:r>
                      <a:r>
                        <a:rPr lang="zh-CN" altLang="en-US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，提供丰富的</a:t>
                      </a:r>
                      <a:r>
                        <a:rPr lang="en-US" altLang="zh-CN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REST API</a:t>
                      </a:r>
                      <a:r>
                        <a:rPr lang="zh-CN" altLang="en-US" sz="800" u="none" strike="noStrike" kern="1200" dirty="0">
                          <a:solidFill>
                            <a:schemeClr val="tx1"/>
                          </a:solidFill>
                          <a:effectLst/>
                          <a:latin typeface="华文仿宋" panose="02010600040101010101" pitchFamily="2" charset="-122"/>
                          <a:ea typeface="华文仿宋" panose="02010600040101010101" pitchFamily="2" charset="-122"/>
                          <a:cs typeface="+mn-cs"/>
                        </a:rPr>
                        <a:t>接口支持对接国网公司统一云管理平台，实现对平台资源、产品、服务等的统一监控与管理等</a:t>
                      </a:r>
                    </a:p>
                  </a:txBody>
                  <a:tcPr marL="9525" marR="9525" marT="9525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54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77E3B732-DDF7-4011-B681-28F511DF8898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002891D3-441F-4843-9EAC-D44E0F2301F5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AFFA82CF-250F-4604-B0DF-1F7FF8D5115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157</TotalTime>
  <Words>1504</Words>
  <Application>Microsoft Office PowerPoint</Application>
  <PresentationFormat>自定义</PresentationFormat>
  <Paragraphs>134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黑体</vt:lpstr>
      <vt:lpstr>华文仿宋</vt:lpstr>
      <vt:lpstr>Microsoft YaHei</vt:lpstr>
      <vt:lpstr>Microsoft YaHei</vt:lpstr>
      <vt:lpstr>Arial</vt:lpstr>
      <vt:lpstr>Calibri</vt:lpstr>
      <vt:lpstr>封面页_图片版 </vt:lpstr>
      <vt:lpstr>目录页</vt:lpstr>
      <vt:lpstr>章节页</vt:lpstr>
      <vt:lpstr>结束页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Zhangxiaoyan (Albert)</dc:creator>
  <cp:lastModifiedBy>shifengli</cp:lastModifiedBy>
  <cp:revision>20</cp:revision>
  <dcterms:created xsi:type="dcterms:W3CDTF">2019-10-22T01:35:10Z</dcterms:created>
  <dcterms:modified xsi:type="dcterms:W3CDTF">2019-10-22T07:19:37Z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(3)8w1NnzvbkU7LgwmUqQM+p0i9iCjr3Nnt5Yq/Zcmzy6DkHmI2JlzEau2uQBUv+RZcVT1EvIi8
AfiGEzkMnq6zUOofdRYrb2TQuswYbpy/vQF3hIcEVyfkx6dPYRAJaj7nf+jUOI86dlrNyCwy
fbawWNvFc8d7jUHfMHi86iNmp5qBhjbF41j9CfSOVSWHE8t2b+7OQqxB6RWYnw7oQKTJcG1R
Pqo75jhaaXMsgTSpYX</vt:lpwstr>
  </property>
  <property fmtid="{D5CDD505-2E9C-101B-9397-08002B2CF9AE}" pid="3" name="_2015_ms_pID_7253431">
    <vt:lpwstr>570Xuhd0jsYYXelUuarVCHu8FLlIhJcyJiWJ195oGcXRO/CVJYSI/n
ktboyzsPXpg/mckGhyYbnjBtZPLt/eWdirLhR1d4NeriwPeIhlPDsx8K25A44GGCRZFeUTD2
rvwkEGgr/MQsvwm4GYkv3iuQIXlvCnNsowITGbKro2r5gCYI3EWt3em1/vizMkSUClkDM+ZB
5tJoYxQATt88sd2Itma9ePG3m7RXl1tfIH3t</vt:lpwstr>
  </property>
  <property fmtid="{D5CDD505-2E9C-101B-9397-08002B2CF9AE}" pid="4" name="_2015_ms_pID_7253432">
    <vt:lpwstr>XA==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1571724014</vt:lpwstr>
  </property>
</Properties>
</file>